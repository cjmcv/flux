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从</a:t>
            </a:r>
            <a:r>
              <a:rPr lang="en-US" altLang="zh-CN"/>
              <a:t>tilelang</a:t>
            </a:r>
            <a:r>
              <a:rPr lang="zh-CN" altLang="en-US"/>
              <a:t>里抽取代码，基于</a:t>
            </a:r>
            <a:r>
              <a:rPr lang="en-US" altLang="zh-CN"/>
              <a:t>tvm</a:t>
            </a:r>
            <a:r>
              <a:rPr lang="zh-CN" altLang="en-US"/>
              <a:t>去编写</a:t>
            </a:r>
            <a:r>
              <a:rPr lang="en-US" altLang="zh-CN"/>
              <a:t>micro kernel</a:t>
            </a:r>
            <a:r>
              <a:rPr lang="zh-CN" altLang="en-US"/>
              <a:t>的生成</a:t>
            </a:r>
            <a:r>
              <a:rPr lang="zh-CN" altLang="en-US"/>
              <a:t>模块。</a:t>
            </a:r>
            <a:endParaRPr lang="zh-CN" altLang="en-US"/>
          </a:p>
          <a:p>
            <a:r>
              <a:rPr lang="zh-CN" altLang="en-US"/>
              <a:t>意义：</a:t>
            </a:r>
            <a:r>
              <a:rPr lang="en-US" altLang="zh-CN"/>
              <a:t>megakernel</a:t>
            </a:r>
            <a:r>
              <a:rPr lang="zh-CN" altLang="en-US"/>
              <a:t>性能很大程度上由</a:t>
            </a:r>
            <a:r>
              <a:rPr lang="en-US" altLang="zh-CN"/>
              <a:t>micro kernel</a:t>
            </a:r>
            <a:r>
              <a:rPr lang="zh-CN" altLang="en-US"/>
              <a:t>决定，后续加入的</a:t>
            </a:r>
            <a:r>
              <a:rPr lang="en-US" altLang="zh-CN"/>
              <a:t>attention</a:t>
            </a:r>
            <a:r>
              <a:rPr lang="zh-CN" altLang="en-US"/>
              <a:t>以及</a:t>
            </a:r>
            <a:r>
              <a:rPr lang="en-US" altLang="zh-CN"/>
              <a:t>gemv</a:t>
            </a:r>
            <a:r>
              <a:rPr lang="zh-CN" altLang="en-US"/>
              <a:t>升级到</a:t>
            </a:r>
            <a:r>
              <a:rPr lang="en-US" altLang="zh-CN"/>
              <a:t>gemm</a:t>
            </a:r>
            <a:r>
              <a:rPr lang="zh-CN" altLang="en-US"/>
              <a:t>，都会存在参数空间急剧扩大的问题。因为需要兼顾多子</a:t>
            </a:r>
            <a:r>
              <a:rPr lang="en-US" altLang="zh-CN"/>
              <a:t>kernel</a:t>
            </a:r>
            <a:r>
              <a:rPr lang="zh-CN" altLang="en-US"/>
              <a:t>的</a:t>
            </a:r>
            <a:r>
              <a:rPr lang="zh-CN" altLang="en-US"/>
              <a:t>组合性能，导致参数难以手调。</a:t>
            </a:r>
            <a:endParaRPr lang="zh-CN" altLang="en-US"/>
          </a:p>
          <a:p>
            <a:r>
              <a:rPr lang="zh-CN" altLang="en-US"/>
              <a:t>目前构建思路：</a:t>
            </a:r>
            <a:r>
              <a:rPr lang="en-US" altLang="zh-CN"/>
              <a:t>1. </a:t>
            </a:r>
            <a:r>
              <a:rPr lang="zh-CN" altLang="en-US"/>
              <a:t>部分代码可以直接复用</a:t>
            </a:r>
            <a:r>
              <a:rPr lang="en-US" altLang="zh-CN"/>
              <a:t>tilelang</a:t>
            </a:r>
            <a:r>
              <a:rPr lang="zh-CN" altLang="en-US"/>
              <a:t>的，</a:t>
            </a:r>
            <a:r>
              <a:rPr lang="zh-CN" altLang="en-US">
                <a:sym typeface="+mn-ea"/>
              </a:rPr>
              <a:t>整体围绕</a:t>
            </a:r>
            <a:r>
              <a:rPr lang="en-US" altLang="zh-CN">
                <a:sym typeface="+mn-ea"/>
              </a:rPr>
              <a:t>tvm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PrimFunc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PrimFuncPass</a:t>
            </a:r>
            <a:r>
              <a:rPr lang="zh-CN" altLang="en-US">
                <a:sym typeface="+mn-ea"/>
              </a:rPr>
              <a:t>进行，基于</a:t>
            </a:r>
            <a:r>
              <a:rPr lang="en-US" altLang="zh-CN">
                <a:sym typeface="+mn-ea"/>
              </a:rPr>
              <a:t>tvm</a:t>
            </a:r>
            <a:r>
              <a:rPr lang="zh-CN" altLang="en-US">
                <a:sym typeface="+mn-ea"/>
              </a:rPr>
              <a:t>的基础设施，分别在</a:t>
            </a:r>
            <a:r>
              <a:rPr lang="en-US" altLang="zh-CN">
                <a:sym typeface="+mn-ea"/>
              </a:rPr>
              <a:t>tir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op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transform</a:t>
            </a:r>
            <a:r>
              <a:rPr lang="zh-CN" altLang="en-US">
                <a:sym typeface="+mn-ea"/>
              </a:rPr>
              <a:t>上进行定制化扩展。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                  2. </a:t>
            </a:r>
            <a:r>
              <a:rPr lang="en-US" altLang="zh-CN">
                <a:sym typeface="+mn-ea"/>
              </a:rPr>
              <a:t>DSL</a:t>
            </a:r>
            <a:r>
              <a:rPr lang="zh-CN" altLang="en-US">
                <a:sym typeface="+mn-ea"/>
              </a:rPr>
              <a:t>层充当</a:t>
            </a:r>
            <a:r>
              <a:rPr lang="en-US" altLang="zh-CN">
                <a:sym typeface="+mn-ea"/>
              </a:rPr>
              <a:t>XOP level3</a:t>
            </a:r>
            <a:r>
              <a:rPr lang="zh-CN" altLang="en-US">
                <a:sym typeface="+mn-ea"/>
              </a:rPr>
              <a:t>的接口，为需要的每个</a:t>
            </a:r>
            <a:r>
              <a:rPr lang="en-US" altLang="zh-CN">
                <a:sym typeface="+mn-ea"/>
              </a:rPr>
              <a:t>micro kernel</a:t>
            </a:r>
            <a:r>
              <a:rPr lang="zh-CN" altLang="en-US">
                <a:sym typeface="+mn-ea"/>
              </a:rPr>
              <a:t>基于</a:t>
            </a:r>
            <a:r>
              <a:rPr lang="en-US" altLang="zh-CN">
                <a:sym typeface="+mn-ea"/>
              </a:rPr>
              <a:t>DSL</a:t>
            </a:r>
            <a:r>
              <a:rPr lang="zh-CN" altLang="en-US">
                <a:sym typeface="+mn-ea"/>
              </a:rPr>
              <a:t>编写多种调度方案的实现。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             3. DSL kernel</a:t>
            </a:r>
            <a:r>
              <a:rPr lang="zh-CN" altLang="en-US">
                <a:sym typeface="+mn-ea"/>
              </a:rPr>
              <a:t>会统一转化为</a:t>
            </a:r>
            <a:r>
              <a:rPr lang="en-US" altLang="zh-CN">
                <a:sym typeface="+mn-ea"/>
              </a:rPr>
              <a:t>tvm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tir</a:t>
            </a:r>
            <a:r>
              <a:rPr lang="zh-CN" altLang="en-US">
                <a:sym typeface="+mn-ea"/>
              </a:rPr>
              <a:t>，通过重复编译与优化的过程，完成参数搜索，得到性能</a:t>
            </a:r>
            <a:r>
              <a:rPr lang="en-US" altLang="zh-CN">
                <a:sym typeface="+mn-ea"/>
              </a:rPr>
              <a:t>topk</a:t>
            </a:r>
            <a:r>
              <a:rPr lang="zh-CN" altLang="en-US">
                <a:sym typeface="+mn-ea"/>
              </a:rPr>
              <a:t>，提供给</a:t>
            </a:r>
            <a:r>
              <a:rPr lang="en-US" altLang="zh-CN">
                <a:sym typeface="+mn-ea"/>
              </a:rPr>
              <a:t>megakernel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autotuner</a:t>
            </a:r>
            <a:r>
              <a:rPr lang="zh-CN" altLang="en-US">
                <a:sym typeface="+mn-ea"/>
              </a:rPr>
              <a:t>，充当其参数空间。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                  4. </a:t>
            </a:r>
            <a:r>
              <a:rPr lang="zh-CN" altLang="en-US">
                <a:sym typeface="+mn-ea"/>
              </a:rPr>
              <a:t>编译优化过程中充分利用</a:t>
            </a:r>
            <a:r>
              <a:rPr lang="en-US" altLang="zh-CN">
                <a:sym typeface="+mn-ea"/>
              </a:rPr>
              <a:t>cutlass</a:t>
            </a:r>
            <a:r>
              <a:rPr lang="zh-CN" altLang="en-US">
                <a:sym typeface="+mn-ea"/>
              </a:rPr>
              <a:t>的基础代码，降低</a:t>
            </a:r>
            <a:r>
              <a:rPr lang="zh-CN" altLang="en-US">
                <a:sym typeface="+mn-ea"/>
              </a:rPr>
              <a:t>代码复杂度的同时保住性能下限。</a:t>
            </a:r>
            <a:endParaRPr lang="zh-CN" altLang="en-US"/>
          </a:p>
          <a:p>
            <a:r>
              <a:rPr lang="en-US" altLang="zh-CN"/>
              <a:t>                        5. </a:t>
            </a:r>
            <a:r>
              <a:rPr lang="zh-CN" altLang="en-US"/>
              <a:t>保留</a:t>
            </a:r>
            <a:r>
              <a:rPr lang="en-US" altLang="zh-CN"/>
              <a:t>tilelang</a:t>
            </a:r>
            <a:r>
              <a:rPr lang="zh-CN" altLang="en-US"/>
              <a:t>的</a:t>
            </a:r>
            <a:r>
              <a:rPr lang="en-US" altLang="zh-CN"/>
              <a:t>host source</a:t>
            </a:r>
            <a:r>
              <a:rPr lang="zh-CN" altLang="en-US"/>
              <a:t>的生成代码，并添加</a:t>
            </a:r>
            <a:r>
              <a:rPr lang="en-US" altLang="zh-CN"/>
              <a:t>micro kernel</a:t>
            </a:r>
            <a:r>
              <a:rPr lang="zh-CN" altLang="en-US"/>
              <a:t>的胶水层，使其可以简单转换为普通</a:t>
            </a:r>
            <a:r>
              <a:rPr lang="en-US" altLang="zh-CN"/>
              <a:t>kernel</a:t>
            </a:r>
            <a:r>
              <a:rPr lang="zh-CN" altLang="en-US"/>
              <a:t>进行调试</a:t>
            </a:r>
            <a:r>
              <a:rPr lang="zh-CN" altLang="en-US"/>
              <a:t>分析。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megakernel</a:t>
            </a:r>
            <a:r>
              <a:rPr lang="zh-CN" altLang="en-US"/>
              <a:t>未成功的原因分析：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主线选择了</a:t>
            </a:r>
            <a:r>
              <a:rPr lang="en-US" altLang="zh-CN"/>
              <a:t>tile</a:t>
            </a:r>
            <a:r>
              <a:rPr lang="zh-CN" altLang="en-US"/>
              <a:t>层级融合，以</a:t>
            </a:r>
            <a:r>
              <a:rPr lang="en-US" altLang="zh-CN"/>
              <a:t>block</a:t>
            </a:r>
            <a:r>
              <a:rPr lang="zh-CN" altLang="en-US"/>
              <a:t>充当任务构建依赖关系。问题是任务粒度太粗，如</a:t>
            </a:r>
            <a:r>
              <a:rPr lang="en-US" altLang="zh-CN"/>
              <a:t>rms_norm</a:t>
            </a:r>
            <a:r>
              <a:rPr lang="zh-CN" altLang="en-US"/>
              <a:t>是单一</a:t>
            </a:r>
            <a:r>
              <a:rPr lang="en-US" altLang="zh-CN"/>
              <a:t>block</a:t>
            </a:r>
            <a:r>
              <a:rPr lang="zh-CN" altLang="en-US"/>
              <a:t>，后置</a:t>
            </a:r>
            <a:r>
              <a:rPr lang="en-US" altLang="zh-CN"/>
              <a:t>gemm</a:t>
            </a:r>
            <a:r>
              <a:rPr lang="zh-CN" altLang="en-US"/>
              <a:t>是多</a:t>
            </a:r>
            <a:r>
              <a:rPr lang="en-US" altLang="zh-CN"/>
              <a:t>block</a:t>
            </a:r>
            <a:r>
              <a:rPr lang="zh-CN" altLang="en-US"/>
              <a:t>，中间写</a:t>
            </a:r>
            <a:r>
              <a:rPr lang="en-US" altLang="zh-CN"/>
              <a:t>gmem</a:t>
            </a:r>
            <a:r>
              <a:rPr lang="zh-CN" altLang="en-US"/>
              <a:t>，难以起到作用。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-- 1. </a:t>
            </a:r>
            <a:r>
              <a:rPr lang="zh-CN" altLang="en-US"/>
              <a:t>可重复计算</a:t>
            </a:r>
            <a:r>
              <a:rPr lang="en-US" altLang="zh-CN"/>
              <a:t>rms_norm</a:t>
            </a:r>
            <a:r>
              <a:rPr lang="zh-CN" altLang="en-US"/>
              <a:t>，以计算换访存，不经过</a:t>
            </a:r>
            <a:r>
              <a:rPr lang="en-US" altLang="zh-CN"/>
              <a:t>smem</a:t>
            </a:r>
            <a:r>
              <a:rPr lang="zh-CN" altLang="en-US"/>
              <a:t>。</a:t>
            </a:r>
            <a:r>
              <a:rPr lang="en-US" altLang="zh-CN"/>
              <a:t>2. </a:t>
            </a:r>
            <a:r>
              <a:rPr lang="zh-CN" altLang="en-US"/>
              <a:t>可将</a:t>
            </a:r>
            <a:r>
              <a:rPr lang="en-US" altLang="zh-CN"/>
              <a:t>multi-stage</a:t>
            </a:r>
            <a:r>
              <a:rPr lang="zh-CN" altLang="en-US"/>
              <a:t>的一级</a:t>
            </a:r>
            <a:r>
              <a:rPr lang="zh-CN" altLang="en-US"/>
              <a:t>权重加载放到前置任务的空闲</a:t>
            </a:r>
            <a:r>
              <a:rPr lang="en-US" altLang="zh-CN"/>
              <a:t>sm</a:t>
            </a:r>
            <a:r>
              <a:rPr lang="zh-CN" altLang="en-US"/>
              <a:t>里；</a:t>
            </a:r>
            <a:r>
              <a:rPr lang="en-US" altLang="zh-CN"/>
              <a:t>3. tma</a:t>
            </a:r>
            <a:r>
              <a:rPr lang="zh-CN" altLang="en-US"/>
              <a:t>的初始化可以</a:t>
            </a:r>
            <a:r>
              <a:rPr lang="zh-CN" altLang="en-US"/>
              <a:t>前置；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一开始基于</a:t>
            </a:r>
            <a:r>
              <a:rPr lang="en-US" altLang="zh-CN"/>
              <a:t>sm89</a:t>
            </a:r>
            <a:r>
              <a:rPr lang="zh-CN" altLang="en-US"/>
              <a:t>做，无</a:t>
            </a:r>
            <a:r>
              <a:rPr lang="en-US" altLang="zh-CN"/>
              <a:t>tma</a:t>
            </a:r>
            <a:r>
              <a:rPr lang="zh-CN" altLang="en-US"/>
              <a:t>，</a:t>
            </a:r>
            <a:r>
              <a:rPr lang="en-US" altLang="zh-CN"/>
              <a:t>cp.async</a:t>
            </a:r>
            <a:r>
              <a:rPr lang="zh-CN" altLang="en-US"/>
              <a:t>占用</a:t>
            </a:r>
            <a:r>
              <a:rPr lang="en-US" altLang="zh-CN"/>
              <a:t>LSU</a:t>
            </a:r>
            <a:r>
              <a:rPr lang="zh-CN" altLang="en-US"/>
              <a:t>，容易和前置计算争抢，前置一级</a:t>
            </a:r>
            <a:r>
              <a:rPr lang="zh-CN" altLang="en-US"/>
              <a:t>权重加载的作用不大；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应使用</a:t>
            </a:r>
            <a:r>
              <a:rPr lang="en-US" altLang="zh-CN"/>
              <a:t>warp</a:t>
            </a:r>
            <a:r>
              <a:rPr lang="zh-CN" altLang="en-US"/>
              <a:t>级别做任务划分，每个算子都有加载</a:t>
            </a:r>
            <a:r>
              <a:rPr lang="en-US" altLang="zh-CN"/>
              <a:t>/</a:t>
            </a:r>
            <a:r>
              <a:rPr lang="zh-CN" altLang="en-US"/>
              <a:t>计算</a:t>
            </a:r>
            <a:r>
              <a:rPr lang="en-US" altLang="zh-CN"/>
              <a:t>/</a:t>
            </a:r>
            <a:r>
              <a:rPr lang="zh-CN" altLang="en-US"/>
              <a:t>存储的三个任务，局部融合里完全按一个</a:t>
            </a:r>
            <a:r>
              <a:rPr lang="en-US" altLang="zh-CN"/>
              <a:t>kernel</a:t>
            </a:r>
            <a:r>
              <a:rPr lang="zh-CN" altLang="en-US"/>
              <a:t>来看，共用指令。全局融合则使用任务队列派发指令顺序执行。指令分两阶，允许前一个计算和后一个加载同时启动。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因为本身是</a:t>
            </a:r>
            <a:r>
              <a:rPr lang="en-US" altLang="zh-CN"/>
              <a:t>warp</a:t>
            </a:r>
            <a:r>
              <a:rPr lang="zh-CN" altLang="en-US"/>
              <a:t>级别，在</a:t>
            </a:r>
            <a:r>
              <a:rPr lang="en-US" altLang="zh-CN"/>
              <a:t>block</a:t>
            </a:r>
            <a:r>
              <a:rPr lang="zh-CN" altLang="en-US"/>
              <a:t>内划分，所以前置计算任务与后置加载任务会相处很融洽，只需要将</a:t>
            </a:r>
            <a:r>
              <a:rPr lang="en-US" altLang="zh-CN"/>
              <a:t>smem</a:t>
            </a:r>
            <a:r>
              <a:rPr lang="zh-CN" altLang="en-US"/>
              <a:t>按分页划分即可。前置计算任务占用部分</a:t>
            </a:r>
            <a:r>
              <a:rPr lang="en-US" altLang="zh-CN"/>
              <a:t>smem</a:t>
            </a:r>
            <a:r>
              <a:rPr lang="zh-CN" altLang="en-US"/>
              <a:t>页面，后置加载任务使用其他页。前置计算完了，后置计算能马上接上，与后置加载</a:t>
            </a:r>
            <a:r>
              <a:rPr lang="zh-CN" altLang="en-US"/>
              <a:t>一起进行。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在小模型大显卡上会有一定效果，因为算力余量多，可以采用很多算力换访存的优化策略，但是</a:t>
            </a:r>
            <a:r>
              <a:rPr lang="en-US" altLang="zh-CN"/>
              <a:t>hardcode</a:t>
            </a:r>
            <a:r>
              <a:rPr lang="zh-CN" altLang="en-US"/>
              <a:t>也比较多，通用性不够，短期还是以局部算子融合为主。代表的开源库是</a:t>
            </a:r>
            <a:r>
              <a:rPr lang="en-US" altLang="zh-CN"/>
              <a:t>TileRT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63525" y="113665"/>
          <a:ext cx="11704955" cy="5046980"/>
        </p:xfrm>
        <a:graphic>
          <a:graphicData uri="http://schemas.openxmlformats.org/drawingml/2006/table">
            <a:tbl>
              <a:tblPr/>
              <a:tblGrid>
                <a:gridCol w="1036955"/>
                <a:gridCol w="719455"/>
                <a:gridCol w="1163955"/>
                <a:gridCol w="2012315"/>
                <a:gridCol w="2194560"/>
                <a:gridCol w="3541395"/>
                <a:gridCol w="1036320"/>
              </a:tblGrid>
              <a:tr h="189865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算子</a:t>
                      </a: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类型</a:t>
                      </a:r>
                      <a:endParaRPr lang="zh-CN" altLang="en-US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支持架构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 - </a:t>
                      </a: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实现</a:t>
                      </a: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方式</a:t>
                      </a:r>
                      <a:endParaRPr lang="zh-CN" altLang="en-US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数据类型</a:t>
                      </a:r>
                      <a:endParaRPr lang="zh-CN" altLang="en-US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备注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07010">
                <a:tc rowSpan="7"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Gemm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Normal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sm80/sm89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-cutlass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bf16/fp16 - (fp16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bf16 - (fp32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正常</a:t>
                      </a:r>
                      <a:r>
                        <a:rPr lang="en-US" altLang="zh-CN" sz="10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tuning</a:t>
                      </a:r>
                      <a:r>
                        <a:rPr lang="zh-CN" altLang="en-US" sz="10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大多可比</a:t>
                      </a:r>
                      <a:r>
                        <a:rPr lang="en-US" altLang="zh-CN" sz="10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torch</a:t>
                      </a:r>
                      <a:r>
                        <a:rPr lang="zh-CN" altLang="en-US" sz="10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快</a:t>
                      </a:r>
                      <a:r>
                        <a:rPr lang="en-US" altLang="zh-CN" sz="10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5-15%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，部分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shape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可远超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torch.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可使用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cublasLt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和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torch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兜底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badcase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；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fp16accum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在消费级显卡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可以精度换速度，集成后需评估端到端精度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损失；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 gridSpan="2">
                  <a:tcPr/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solidFill>
                            <a:srgbClr val="0000F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sm90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-cutlass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 gridSpan="2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61290">
                <a:tc vMerge="1" gridSpan="2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Group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sm80/sm89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-cutlass</a:t>
                      </a:r>
                      <a:endParaRPr lang="en-US" altLang="zh-CN" sz="110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bf16/fp16 - (fp16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bf16 - (fp32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 gridSpan="2">
                  <a:tcPr/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*sm90-cutlass </a:t>
                      </a:r>
                      <a:endParaRPr lang="en-US" altLang="zh-CN" sz="1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 gridSpan="2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Blockscale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sm89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-cute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33350" indent="-13335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fp8 - (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fp16/fp32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fp32accum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L40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可达理论峰值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82%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fp16accum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52%</a:t>
                      </a: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无开源对标方案，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52%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可进一步优化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)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87960">
                <a:tc vMerge="1" gridSpan="2">
                  <a:tcPr/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solidFill>
                            <a:srgbClr val="0000F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sm90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-cutlass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33350" indent="-13335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fp8 - (fp32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大时能优于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deepgemm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小时性能比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deepgemm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差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待优化）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01295">
                <a:tc vMerge="1" gridSpan="2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GroupBlockscale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F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sm90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-cutlass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33350" indent="-13335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fp8 - (fp32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大时能优于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deepgemm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小时性能比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deepgemm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差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待优化）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rowSpan="3"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GemmQuant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(dynamic)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a tokenwise + b blockwise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sm89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-cute/</a:t>
                      </a:r>
                      <a:r>
                        <a:rPr lang="en-US" altLang="zh-CN" sz="1100">
                          <a:solidFill>
                            <a:srgbClr val="0000F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sm90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cutlass + triton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 w8a8 - (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fp16/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fp32 accum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动态量化，以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fp8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计算，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大时优势明显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单算子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动态量化，损失可控，收益可观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6530">
                <a:tc vMerge="1" gridSpan="2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b weight only 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sm80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fork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 w4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a16 - (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fp32 accum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weight only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w4a16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实现，以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a16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计算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小时优势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明显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30810">
                <a:tc vMerge="1" gridSpan="2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solidFill>
                            <a:srgbClr val="0000F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sm90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</a:t>
                      </a:r>
                      <a:r>
                        <a:rPr lang="en-US" altLang="zh-CN" sz="1100">
                          <a:sym typeface="+mn-ea"/>
                        </a:rPr>
                        <a:t>cutrw</a:t>
                      </a:r>
                      <a:endParaRPr lang="en-US" altLang="zh-CN" sz="110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 w4a16 - (fp32 accum)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475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GemmComm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AR (</a:t>
                      </a: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单机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PCIE)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Normal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sm80/sm89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</a:t>
                      </a:r>
                      <a:r>
                        <a:rPr lang="en-US" altLang="zh-CN" sz="1100">
                          <a:sym typeface="+mn-ea"/>
                        </a:rPr>
                        <a:t>cutrw</a:t>
                      </a:r>
                      <a:endParaRPr lang="en-US" altLang="zh-CN" sz="1100"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双卡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 - (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fp16 accum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双卡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-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 - (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fp32 accum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)</a:t>
                      </a:r>
                      <a:endParaRPr lang="zh-CN" altLang="en-US" sz="1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p2p-pcie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下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cuda-ipc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卡以上无收益，不考虑使用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cuda-ipc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。应整合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nccl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使用。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多卡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未实现）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9705">
                <a:tc vMerge="1"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AR (</a:t>
                      </a:r>
                      <a:r>
                        <a:rPr lang="zh-CN" altLang="en-US" sz="1100">
                          <a:latin typeface="Calibri" panose="020F0502020204030204"/>
                          <a:ea typeface="Calibri" panose="020F0502020204030204"/>
                        </a:rPr>
                        <a:t>多机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nvlink+IB)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Normal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F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sm90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cutrw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单机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en-US" altLang="zh-CN" sz="1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*</a:t>
                      </a:r>
                      <a:r>
                        <a:rPr lang="zh-CN" altLang="en-US" sz="1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多机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 - 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bf16/fp16</a:t>
                      </a:r>
                      <a:endParaRPr lang="zh-CN" altLang="en-US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h20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下单机内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nvlink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通信占比在计算的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10%(nk=4096)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左右，计算损耗会大于融合收益！应在跨机场景使用？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sym typeface="+mn-ea"/>
                        </a:rPr>
                        <a:t>多机未实现）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GemmChain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Dual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Normal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理论上对小矩阵有大用！待深入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评估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rowSpan="3"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Attention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MHA-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custom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</a:rPr>
                        <a:t>*fp32</a:t>
                      </a:r>
                      <a:endParaRPr lang="en-US" altLang="zh-CN" sz="1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 gridSpan="2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MHA/GQA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37160">
                <a:tc vMerge="1" gridSpan="2">
                  <a:tcPr/>
                </a:tc>
                <a:tc vMerge="1"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MLA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86055"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AttentionQuant (dynamic)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SageAttention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AttentionSparse (dynamic)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SpargeAttention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Common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allreduce</a:t>
                      </a:r>
                      <a:b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</a:b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(cuda ipc)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</a:rPr>
                        <a:t>sm80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/</a:t>
                      </a:r>
                      <a:r>
                        <a:rPr lang="en-US" altLang="zh-CN" sz="1100">
                          <a:solidFill>
                            <a:srgbClr val="00B050"/>
                          </a:solidFill>
                          <a:latin typeface="Calibri" panose="020F0502020204030204"/>
                          <a:ea typeface="Calibri" panose="020F0502020204030204"/>
                        </a:rPr>
                        <a:t>sm89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/</a:t>
                      </a:r>
                      <a:r>
                        <a:rPr lang="en-US" altLang="zh-CN" sz="1100">
                          <a:solidFill>
                            <a:srgbClr val="0000FF"/>
                          </a:solidFill>
                          <a:latin typeface="Calibri" panose="020F0502020204030204"/>
                          <a:ea typeface="Calibri" panose="020F0502020204030204"/>
                        </a:rPr>
                        <a:t>sm90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-cuda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bf16/fp16/fp32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p2p-pcie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下双卡小数据量比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nccl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好，多卡无优势。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nvlink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下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2-8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卡均有一定优势，卡数越少</a:t>
                      </a:r>
                      <a:r>
                        <a:rPr lang="en-US" altLang="zh-CN" sz="1000">
                          <a:latin typeface="Calibri" panose="020F0502020204030204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数据量越小，则优势越</a:t>
                      </a: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明显。</a:t>
                      </a: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88595"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CPU offload 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Gemm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Normal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avx512-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铂金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8358(L40)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amx-</a:t>
                      </a:r>
                      <a:r>
                        <a:rPr lang="zh-CN" altLang="en-US" sz="1100">
                          <a:latin typeface="Calibri" panose="020F0502020204030204"/>
                          <a:ea typeface="宋体" panose="02010600030101010101" pitchFamily="2" charset="-122"/>
                        </a:rPr>
                        <a:t>铂金</a:t>
                      </a: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8580(H20)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bf16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" name="图片 6" descr="xop-ada-fp8-blockscale-4090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40" y="1332865"/>
            <a:ext cx="316230" cy="252730"/>
          </a:xfrm>
          <a:prstGeom prst="rect">
            <a:avLst/>
          </a:prstGeom>
        </p:spPr>
      </p:pic>
      <p:pic>
        <p:nvPicPr>
          <p:cNvPr id="9" name="图片 8" descr="xop_gemmcomm_4096_sm90-h20x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45" y="3084830"/>
            <a:ext cx="229235" cy="181610"/>
          </a:xfrm>
          <a:prstGeom prst="rect">
            <a:avLst/>
          </a:prstGeom>
        </p:spPr>
      </p:pic>
      <p:pic>
        <p:nvPicPr>
          <p:cNvPr id="10" name="图片 9" descr="xop_gemmcomm_sm89-l40x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" y="2854325"/>
            <a:ext cx="679450" cy="184150"/>
          </a:xfrm>
          <a:prstGeom prst="rect">
            <a:avLst/>
          </a:prstGeom>
        </p:spPr>
      </p:pic>
      <p:pic>
        <p:nvPicPr>
          <p:cNvPr id="2" name="图片 1" descr="xop_gemmnormal_sm89_rtx4090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494030"/>
            <a:ext cx="1690370" cy="2813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4800" y="5545455"/>
            <a:ext cx="5788025" cy="1245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边界与定位：聚焦</a:t>
            </a:r>
            <a:r>
              <a:rPr lang="en-US" altLang="zh-CN" sz="1200"/>
              <a:t>llm</a:t>
            </a:r>
            <a:r>
              <a:rPr lang="zh-CN" altLang="en-US" sz="1200"/>
              <a:t>核心算子，目前</a:t>
            </a:r>
            <a:r>
              <a:rPr lang="en-US" altLang="zh-CN" sz="1200"/>
              <a:t> </a:t>
            </a:r>
            <a:r>
              <a:rPr lang="zh-CN" altLang="en-US" sz="1200"/>
              <a:t>围绕</a:t>
            </a:r>
            <a:r>
              <a:rPr lang="en-US" altLang="zh-CN" sz="1200"/>
              <a:t>gemm</a:t>
            </a:r>
            <a:r>
              <a:rPr lang="zh-CN" altLang="en-US" sz="1200"/>
              <a:t>、</a:t>
            </a:r>
            <a:r>
              <a:rPr lang="en-US" altLang="zh-CN" sz="1200"/>
              <a:t>attention</a:t>
            </a:r>
            <a:r>
              <a:rPr lang="zh-CN" altLang="en-US" sz="1200"/>
              <a:t>与通信</a:t>
            </a:r>
            <a:r>
              <a:rPr lang="en-US" altLang="zh-CN" sz="1200"/>
              <a:t> </a:t>
            </a:r>
            <a:r>
              <a:rPr lang="zh-CN" altLang="en-US" sz="1200"/>
              <a:t>进行。</a:t>
            </a:r>
            <a:endParaRPr lang="zh-CN" altLang="en-US" sz="1200"/>
          </a:p>
          <a:p>
            <a:r>
              <a:rPr lang="zh-CN" altLang="en-US" sz="1200"/>
              <a:t>差异化：</a:t>
            </a:r>
            <a:r>
              <a:rPr lang="en-US" altLang="zh-CN" sz="1200"/>
              <a:t>1</a:t>
            </a:r>
            <a:r>
              <a:rPr lang="zh-CN" altLang="en-US" sz="1200"/>
              <a:t>）特定硬件优化与性能压榨：</a:t>
            </a:r>
            <a:endParaRPr lang="zh-CN" altLang="en-US" sz="1200"/>
          </a:p>
          <a:p>
            <a:r>
              <a:rPr lang="zh-CN" altLang="en-US" sz="1200"/>
              <a:t> </a:t>
            </a:r>
            <a:r>
              <a:rPr lang="en-US" altLang="zh-CN" sz="1200"/>
              <a:t>                        </a:t>
            </a:r>
            <a:r>
              <a:rPr lang="zh-CN" altLang="en-US" sz="1200"/>
              <a:t>以指定硬件最极端性能为目的，</a:t>
            </a:r>
            <a:r>
              <a:rPr lang="zh-CN" altLang="en-US" sz="1200">
                <a:sym typeface="+mn-ea"/>
              </a:rPr>
              <a:t>与开源社区代码的通用性形成互补。</a:t>
            </a:r>
            <a:endParaRPr lang="zh-CN" altLang="en-US" sz="1200"/>
          </a:p>
          <a:p>
            <a:r>
              <a:rPr lang="en-US" altLang="zh-CN" sz="1200"/>
              <a:t>                  2</a:t>
            </a:r>
            <a:r>
              <a:rPr lang="zh-CN" altLang="en-US" sz="1200"/>
              <a:t>）处理长尾与非高频场景：弥补开源社区对小众需求支持的滞后性。</a:t>
            </a:r>
            <a:endParaRPr lang="zh-CN" altLang="en-US" sz="1200"/>
          </a:p>
          <a:p>
            <a:r>
              <a:rPr lang="en-US" altLang="zh-CN" sz="1200"/>
              <a:t>                  3</a:t>
            </a:r>
            <a:r>
              <a:rPr lang="zh-CN" altLang="en-US" sz="1200"/>
              <a:t>）业务</a:t>
            </a:r>
            <a:r>
              <a:rPr lang="zh-CN" altLang="en-US" sz="1200"/>
              <a:t>感知：实现业务与系统的深度集成。</a:t>
            </a:r>
            <a:endParaRPr lang="zh-CN" altLang="en-US" sz="1200"/>
          </a:p>
          <a:p>
            <a:r>
              <a:rPr lang="en-US" altLang="zh-CN" sz="1200"/>
              <a:t>                  </a:t>
            </a:r>
            <a:r>
              <a:rPr lang="en-US" altLang="zh-CN" sz="1200">
                <a:sym typeface="+mn-ea"/>
              </a:rPr>
              <a:t>4</a:t>
            </a:r>
            <a:r>
              <a:rPr lang="zh-CN" altLang="en-US" sz="1200">
                <a:sym typeface="+mn-ea"/>
              </a:rPr>
              <a:t>）前瞻性研究与创新</a:t>
            </a:r>
            <a:r>
              <a:rPr lang="zh-CN" altLang="en-US" sz="1200">
                <a:sym typeface="+mn-ea"/>
              </a:rPr>
              <a:t>孵化。</a:t>
            </a:r>
            <a:endParaRPr lang="zh-CN" altLang="en-US" sz="1200">
              <a:sym typeface="+mn-ea"/>
            </a:endParaRPr>
          </a:p>
        </p:txBody>
      </p:sp>
      <p:pic>
        <p:nvPicPr>
          <p:cNvPr id="11" name="图片 10" descr="xop_gemmquantsm89_all-4090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40" y="2350770"/>
            <a:ext cx="662305" cy="266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730" y="4461510"/>
            <a:ext cx="742950" cy="2012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5730" y="1799590"/>
            <a:ext cx="599440" cy="203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07505" y="5480050"/>
            <a:ext cx="5051425" cy="1250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00">
                <a:sym typeface="+mn-ea"/>
              </a:rPr>
              <a:t>算子实现方式：</a:t>
            </a:r>
            <a:r>
              <a:rPr lang="en-US" altLang="zh-CN" sz="1200">
                <a:sym typeface="+mn-ea"/>
              </a:rPr>
              <a:t>-cutlass </a:t>
            </a:r>
            <a:r>
              <a:rPr lang="zh-CN" altLang="en-US" sz="1200">
                <a:sym typeface="+mn-ea"/>
              </a:rPr>
              <a:t>基于</a:t>
            </a:r>
            <a:r>
              <a:rPr lang="en-US" altLang="zh-CN" sz="1200">
                <a:sym typeface="+mn-ea"/>
              </a:rPr>
              <a:t>cutlass</a:t>
            </a:r>
            <a:r>
              <a:rPr lang="zh-CN" altLang="en-US" sz="1200">
                <a:sym typeface="+mn-ea"/>
              </a:rPr>
              <a:t>封装与定制，不修改底层</a:t>
            </a:r>
            <a:r>
              <a:rPr lang="zh-CN" altLang="en-US" sz="1200">
                <a:sym typeface="+mn-ea"/>
              </a:rPr>
              <a:t>模块；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</a:t>
            </a:r>
            <a:r>
              <a:rPr lang="en-US" altLang="zh-CN" sz="1200">
                <a:sym typeface="+mn-ea"/>
              </a:rPr>
              <a:t>                              -cutrw (rewrite) </a:t>
            </a:r>
            <a:r>
              <a:rPr lang="zh-CN" altLang="en-US" sz="1200">
                <a:sym typeface="+mn-ea"/>
              </a:rPr>
              <a:t>抽取</a:t>
            </a:r>
            <a:r>
              <a:rPr lang="en-US" altLang="zh-CN" sz="1200">
                <a:sym typeface="+mn-ea"/>
              </a:rPr>
              <a:t>cutlass</a:t>
            </a:r>
            <a:r>
              <a:rPr lang="zh-CN" altLang="en-US" sz="1200">
                <a:sym typeface="+mn-ea"/>
              </a:rPr>
              <a:t>模块代码深度改写</a:t>
            </a:r>
            <a:r>
              <a:rPr lang="zh-CN" altLang="en-US" sz="1200">
                <a:sym typeface="+mn-ea"/>
              </a:rPr>
              <a:t>而成；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 </a:t>
            </a:r>
            <a:r>
              <a:rPr lang="en-US" altLang="zh-CN" sz="1200">
                <a:sym typeface="+mn-ea"/>
              </a:rPr>
              <a:t>                              -cute </a:t>
            </a:r>
            <a:r>
              <a:rPr lang="zh-CN" altLang="en-US" sz="1200">
                <a:sym typeface="+mn-ea"/>
              </a:rPr>
              <a:t>基于</a:t>
            </a:r>
            <a:r>
              <a:rPr lang="en-US" altLang="zh-CN" sz="1200">
                <a:sym typeface="+mn-ea"/>
              </a:rPr>
              <a:t>cute</a:t>
            </a:r>
            <a:r>
              <a:rPr lang="zh-CN" altLang="en-US" sz="1200">
                <a:sym typeface="+mn-ea"/>
              </a:rPr>
              <a:t>编写；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 </a:t>
            </a:r>
            <a:r>
              <a:rPr lang="en-US" altLang="zh-CN" sz="1200">
                <a:sym typeface="+mn-ea"/>
              </a:rPr>
              <a:t>                              -cuda </a:t>
            </a:r>
            <a:r>
              <a:rPr lang="zh-CN" altLang="en-US" sz="1200">
                <a:sym typeface="+mn-ea"/>
              </a:rPr>
              <a:t>基于</a:t>
            </a:r>
            <a:r>
              <a:rPr lang="en-US" altLang="zh-CN" sz="1200">
                <a:sym typeface="+mn-ea"/>
              </a:rPr>
              <a:t>cuda</a:t>
            </a:r>
            <a:r>
              <a:rPr lang="zh-CN" altLang="en-US" sz="1200">
                <a:sym typeface="+mn-ea"/>
              </a:rPr>
              <a:t>编写；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 </a:t>
            </a:r>
            <a:r>
              <a:rPr lang="en-US" altLang="zh-CN" sz="1200">
                <a:sym typeface="+mn-ea"/>
              </a:rPr>
              <a:t>                              -triton </a:t>
            </a:r>
            <a:r>
              <a:rPr lang="zh-CN" altLang="en-US" sz="1200">
                <a:sym typeface="+mn-ea"/>
              </a:rPr>
              <a:t>基于</a:t>
            </a:r>
            <a:r>
              <a:rPr lang="en-US" altLang="zh-CN" sz="1200">
                <a:sym typeface="+mn-ea"/>
              </a:rPr>
              <a:t>triton</a:t>
            </a:r>
            <a:r>
              <a:rPr lang="zh-CN" altLang="en-US" sz="1200">
                <a:sym typeface="+mn-ea"/>
              </a:rPr>
              <a:t>编写；</a:t>
            </a:r>
            <a:endParaRPr lang="zh-CN" altLang="en-US" sz="1200">
              <a:sym typeface="+mn-ea"/>
            </a:endParaRPr>
          </a:p>
          <a:p>
            <a:r>
              <a:rPr lang="en-US" altLang="zh-CN" sz="1200">
                <a:sym typeface="+mn-ea"/>
              </a:rPr>
              <a:t>                               -fork </a:t>
            </a:r>
            <a:r>
              <a:rPr lang="zh-CN" altLang="en-US" sz="1200">
                <a:sym typeface="+mn-ea"/>
              </a:rPr>
              <a:t>基于开源仓库修改定制（如</a:t>
            </a:r>
            <a:r>
              <a:rPr lang="en-US" altLang="zh-CN" sz="1200">
                <a:sym typeface="+mn-ea"/>
              </a:rPr>
              <a:t>marlin/fa3</a:t>
            </a:r>
            <a:r>
              <a:rPr lang="zh-CN" altLang="en-US" sz="1200">
                <a:sym typeface="+mn-ea"/>
              </a:rPr>
              <a:t>等）；</a:t>
            </a:r>
            <a:endParaRPr lang="en-US" altLang="zh-CN" sz="1200">
              <a:sym typeface="+mn-ea"/>
            </a:endParaRPr>
          </a:p>
        </p:txBody>
      </p:sp>
      <p:pic>
        <p:nvPicPr>
          <p:cNvPr id="6" name="图片 5" descr="xop_gemmquantsm90_q4a8mix-h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840" y="2359660"/>
            <a:ext cx="323215" cy="2660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785" y="1247775"/>
            <a:ext cx="694055" cy="5518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4800" y="137160"/>
            <a:ext cx="11694160" cy="6519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# </a:t>
            </a:r>
            <a:r>
              <a:rPr lang="zh-CN" altLang="en-US" sz="1400"/>
              <a:t>基于</a:t>
            </a:r>
            <a:r>
              <a:rPr lang="en-US" altLang="zh-CN" sz="1400"/>
              <a:t>Nvidia</a:t>
            </a:r>
            <a:r>
              <a:rPr lang="zh-CN" altLang="en-US" sz="1400"/>
              <a:t>平台的自研大模型算子库</a:t>
            </a:r>
            <a:r>
              <a:rPr lang="en-US" altLang="zh-CN" sz="1400"/>
              <a:t>XOP-2025</a:t>
            </a:r>
            <a:r>
              <a:rPr lang="zh-CN" altLang="en-US" sz="1400"/>
              <a:t>年终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/>
              <a:t>定位：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）特定硬件优化与性能压榨</a:t>
            </a:r>
            <a:r>
              <a:rPr lang="zh-CN" sz="1400">
                <a:sym typeface="+mn-ea"/>
              </a:rPr>
              <a:t>，</a:t>
            </a:r>
            <a:r>
              <a:rPr lang="zh-CN" altLang="en-US" sz="1400">
                <a:sym typeface="+mn-ea"/>
              </a:rPr>
              <a:t>与开源社区代码的通用性形成互补。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    2</a:t>
            </a:r>
            <a:r>
              <a:rPr lang="zh-CN" altLang="en-US" sz="1400">
                <a:sym typeface="+mn-ea"/>
              </a:rPr>
              <a:t>）处理长尾与非高频场景：弥补开源社区对小众需求支持的滞后性。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实现方式：基于</a:t>
            </a:r>
            <a:r>
              <a:rPr lang="en-US" altLang="zh-CN" sz="1400">
                <a:sym typeface="+mn-ea"/>
              </a:rPr>
              <a:t>cuda</a:t>
            </a:r>
            <a:r>
              <a:rPr lang="zh-CN" altLang="en-US" sz="1400">
                <a:sym typeface="+mn-ea"/>
              </a:rPr>
              <a:t>编写</a:t>
            </a:r>
            <a:r>
              <a:rPr lang="en-US" altLang="zh-CN" sz="1400">
                <a:sym typeface="+mn-ea"/>
              </a:rPr>
              <a:t> / </a:t>
            </a:r>
            <a:r>
              <a:rPr lang="zh-CN" altLang="en-US" sz="1400">
                <a:sym typeface="+mn-ea"/>
              </a:rPr>
              <a:t>基于</a:t>
            </a:r>
            <a:r>
              <a:rPr lang="en-US" altLang="zh-CN" sz="1400">
                <a:sym typeface="+mn-ea"/>
              </a:rPr>
              <a:t>cute</a:t>
            </a:r>
            <a:r>
              <a:rPr lang="zh-CN" altLang="en-US" sz="1400">
                <a:sym typeface="+mn-ea"/>
              </a:rPr>
              <a:t>编写</a:t>
            </a:r>
            <a:r>
              <a:rPr lang="en-US" altLang="zh-CN" sz="1400">
                <a:sym typeface="+mn-ea"/>
              </a:rPr>
              <a:t> / </a:t>
            </a:r>
            <a:r>
              <a:rPr lang="zh-CN" altLang="en-US" sz="1400">
                <a:sym typeface="+mn-ea"/>
              </a:rPr>
              <a:t>基于</a:t>
            </a:r>
            <a:r>
              <a:rPr lang="en-US" altLang="zh-CN" sz="1400">
                <a:sym typeface="+mn-ea"/>
              </a:rPr>
              <a:t>cutlass</a:t>
            </a:r>
            <a:r>
              <a:rPr lang="zh-CN" altLang="en-US" sz="1400">
                <a:sym typeface="+mn-ea"/>
              </a:rPr>
              <a:t>二次开发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## GEMM</a:t>
            </a:r>
            <a:endParaRPr lang="en-US" altLang="zh-CN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1. </a:t>
            </a:r>
            <a:r>
              <a:rPr lang="zh-CN" altLang="en-US" sz="1400">
                <a:sym typeface="+mn-ea"/>
              </a:rPr>
              <a:t>实现</a:t>
            </a:r>
            <a:r>
              <a:rPr lang="en-US" altLang="zh-CN" sz="1400">
                <a:sym typeface="+mn-ea"/>
              </a:rPr>
              <a:t>sm80/sm89/sm90</a:t>
            </a:r>
            <a:r>
              <a:rPr lang="zh-CN" altLang="en-US" sz="1400">
                <a:sym typeface="+mn-ea"/>
              </a:rPr>
              <a:t>的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普通</a:t>
            </a:r>
            <a:r>
              <a:rPr lang="en-US" altLang="zh-CN" sz="1400">
                <a:sym typeface="+mn-ea"/>
              </a:rPr>
              <a:t>gemm</a:t>
            </a:r>
            <a:r>
              <a:rPr lang="zh-CN" altLang="en-US" sz="1400">
                <a:sym typeface="+mn-ea"/>
              </a:rPr>
              <a:t>与分组</a:t>
            </a:r>
            <a:r>
              <a:rPr lang="en-US" altLang="zh-CN" sz="1400">
                <a:sym typeface="+mn-ea"/>
              </a:rPr>
              <a:t>gemm</a:t>
            </a:r>
            <a:r>
              <a:rPr lang="zh-CN" altLang="en-US" sz="1400">
                <a:sym typeface="+mn-ea"/>
              </a:rPr>
              <a:t>：以</a:t>
            </a:r>
            <a:r>
              <a:rPr lang="en-US" altLang="zh-CN" sz="1400">
                <a:sym typeface="+mn-ea"/>
              </a:rPr>
              <a:t>qwen3-4B</a:t>
            </a:r>
            <a:r>
              <a:rPr lang="zh-CN" altLang="en-US" sz="1400">
                <a:sym typeface="+mn-ea"/>
              </a:rPr>
              <a:t>模型在</a:t>
            </a:r>
            <a:r>
              <a:rPr lang="en-US" altLang="zh-CN" sz="1400">
                <a:sym typeface="+mn-ea"/>
              </a:rPr>
              <a:t>L40</a:t>
            </a:r>
            <a:r>
              <a:rPr lang="zh-CN" altLang="en-US" sz="1400">
                <a:sym typeface="+mn-ea"/>
              </a:rPr>
              <a:t>上运行为例，与</a:t>
            </a:r>
            <a:r>
              <a:rPr lang="en-US" altLang="zh-CN" sz="1400">
                <a:sym typeface="+mn-ea"/>
              </a:rPr>
              <a:t>sglang</a:t>
            </a:r>
            <a:r>
              <a:rPr lang="zh-CN" altLang="en-US" sz="1400">
                <a:sym typeface="+mn-ea"/>
              </a:rPr>
              <a:t>使用的算子相比，高并发下耗时减少</a:t>
            </a:r>
            <a:r>
              <a:rPr lang="en-US" altLang="zh-CN" sz="1400">
                <a:sym typeface="+mn-ea"/>
              </a:rPr>
              <a:t> 13%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2. </a:t>
            </a:r>
            <a:r>
              <a:rPr lang="zh-CN" altLang="en-US" sz="1400">
                <a:sym typeface="+mn-ea"/>
              </a:rPr>
              <a:t>实现</a:t>
            </a:r>
            <a:r>
              <a:rPr lang="en-US" altLang="zh-CN" sz="1400">
                <a:sym typeface="+mn-ea"/>
              </a:rPr>
              <a:t>sm89 blockscale fp8 gemm</a:t>
            </a:r>
            <a:r>
              <a:rPr lang="zh-CN" altLang="en-US" sz="1400">
                <a:sym typeface="+mn-ea"/>
              </a:rPr>
              <a:t>：填补</a:t>
            </a:r>
            <a:r>
              <a:rPr lang="en-US" altLang="zh-CN" sz="1400">
                <a:sym typeface="+mn-ea"/>
              </a:rPr>
              <a:t>sglang</a:t>
            </a:r>
            <a:r>
              <a:rPr lang="zh-CN" altLang="en-US" sz="1400">
                <a:sym typeface="+mn-ea"/>
              </a:rPr>
              <a:t>在</a:t>
            </a:r>
            <a:r>
              <a:rPr lang="en-US" altLang="zh-CN" sz="1400">
                <a:sym typeface="+mn-ea"/>
              </a:rPr>
              <a:t>L40</a:t>
            </a:r>
            <a:r>
              <a:rPr lang="zh-CN" altLang="en-US" sz="1400">
                <a:sym typeface="+mn-ea"/>
              </a:rPr>
              <a:t>上无法运行</a:t>
            </a:r>
            <a:r>
              <a:rPr lang="en-US" altLang="zh-CN" sz="1400">
                <a:sym typeface="+mn-ea"/>
              </a:rPr>
              <a:t>blockscale fp8</a:t>
            </a:r>
            <a:r>
              <a:rPr lang="zh-CN" altLang="en-US" sz="1400">
                <a:sym typeface="+mn-ea"/>
              </a:rPr>
              <a:t>模型的空缺。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3. </a:t>
            </a:r>
            <a:r>
              <a:rPr lang="zh-CN" altLang="en-US" sz="1400">
                <a:sym typeface="+mn-ea"/>
              </a:rPr>
              <a:t>实现</a:t>
            </a:r>
            <a:r>
              <a:rPr lang="en-US" altLang="zh-CN" sz="1400">
                <a:sym typeface="+mn-ea"/>
              </a:rPr>
              <a:t>sm90 blockscale fp8 gemm</a:t>
            </a:r>
            <a:r>
              <a:rPr lang="zh-CN" altLang="en-US" sz="1400">
                <a:sym typeface="+mn-ea"/>
              </a:rPr>
              <a:t>：与开源</a:t>
            </a:r>
            <a:r>
              <a:rPr lang="en-US" altLang="zh-CN" sz="1400">
                <a:sym typeface="+mn-ea"/>
              </a:rPr>
              <a:t>deepgemm</a:t>
            </a:r>
            <a:r>
              <a:rPr lang="zh-CN" altLang="en-US" sz="1400">
                <a:sym typeface="+mn-ea"/>
              </a:rPr>
              <a:t>实现相比，在</a:t>
            </a:r>
            <a:r>
              <a:rPr lang="en-US" altLang="zh-CN" sz="1400">
                <a:sym typeface="+mn-ea"/>
              </a:rPr>
              <a:t> H20 </a:t>
            </a:r>
            <a:r>
              <a:rPr lang="zh-CN" altLang="en-US" sz="1400">
                <a:sym typeface="+mn-ea"/>
              </a:rPr>
              <a:t>高并发下耗时减少约</a:t>
            </a:r>
            <a:r>
              <a:rPr lang="en-US" altLang="zh-CN" sz="1400">
                <a:sym typeface="+mn-ea"/>
              </a:rPr>
              <a:t> 5%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4. </a:t>
            </a:r>
            <a:r>
              <a:rPr lang="zh-CN" altLang="en-US" sz="1400">
                <a:sym typeface="+mn-ea"/>
              </a:rPr>
              <a:t>初步实现</a:t>
            </a:r>
            <a:r>
              <a:rPr lang="en-US" altLang="zh-CN" sz="1400">
                <a:sym typeface="+mn-ea"/>
              </a:rPr>
              <a:t>sm90 grouped blockscale fp8 gemm</a:t>
            </a:r>
            <a:r>
              <a:rPr lang="zh-CN" altLang="en-US" sz="1400">
                <a:sym typeface="+mn-ea"/>
              </a:rPr>
              <a:t>：因任务优先级暂时搁置，与开源</a:t>
            </a:r>
            <a:r>
              <a:rPr lang="en-US" altLang="zh-CN" sz="1400">
                <a:sym typeface="+mn-ea"/>
              </a:rPr>
              <a:t>deepgemm</a:t>
            </a:r>
            <a:r>
              <a:rPr lang="zh-CN" altLang="en-US" sz="1400">
                <a:sym typeface="+mn-ea"/>
              </a:rPr>
              <a:t>实现相比，暂未拿到收益。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5. </a:t>
            </a:r>
            <a:r>
              <a:rPr lang="zh-CN" altLang="en-US" sz="1400">
                <a:sym typeface="+mn-ea"/>
              </a:rPr>
              <a:t>基于</a:t>
            </a:r>
            <a:r>
              <a:rPr lang="en-US" altLang="zh-CN" sz="1400">
                <a:sym typeface="+mn-ea"/>
              </a:rPr>
              <a:t>L40</a:t>
            </a:r>
            <a:r>
              <a:rPr lang="zh-CN" altLang="en-US" sz="1400">
                <a:sym typeface="+mn-ea"/>
              </a:rPr>
              <a:t>优化开源</a:t>
            </a:r>
            <a:r>
              <a:rPr lang="en-US" altLang="zh-CN" sz="1400">
                <a:sym typeface="+mn-ea"/>
              </a:rPr>
              <a:t>marlin kernel</a:t>
            </a:r>
            <a:r>
              <a:rPr lang="zh-CN" altLang="en-US" sz="1400">
                <a:sym typeface="+mn-ea"/>
              </a:rPr>
              <a:t>：与原版相比，在</a:t>
            </a:r>
            <a:r>
              <a:rPr lang="en-US" altLang="zh-CN" sz="1400">
                <a:sym typeface="+mn-ea"/>
              </a:rPr>
              <a:t>L40 </a:t>
            </a:r>
            <a:r>
              <a:rPr lang="zh-CN" altLang="en-US" sz="1400">
                <a:sym typeface="+mn-ea"/>
              </a:rPr>
              <a:t>小并发下耗时减少约</a:t>
            </a:r>
            <a:r>
              <a:rPr lang="en-US" altLang="zh-CN" sz="1400">
                <a:sym typeface="+mn-ea"/>
              </a:rPr>
              <a:t> 10%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6. </a:t>
            </a:r>
            <a:r>
              <a:rPr lang="zh-CN" altLang="en-US" sz="1400">
                <a:sym typeface="+mn-ea"/>
              </a:rPr>
              <a:t>基于</a:t>
            </a:r>
            <a:r>
              <a:rPr lang="en-US" altLang="zh-CN" sz="1400">
                <a:sym typeface="+mn-ea"/>
              </a:rPr>
              <a:t>H20</a:t>
            </a:r>
            <a:r>
              <a:rPr lang="zh-CN" altLang="en-US" sz="1400">
                <a:sym typeface="+mn-ea"/>
              </a:rPr>
              <a:t>优化开源</a:t>
            </a:r>
            <a:r>
              <a:rPr lang="en-US" altLang="zh-CN" sz="1400">
                <a:sym typeface="+mn-ea"/>
              </a:rPr>
              <a:t>machete kernel</a:t>
            </a:r>
            <a:r>
              <a:rPr lang="zh-CN" altLang="en-US" sz="1400">
                <a:sym typeface="+mn-ea"/>
              </a:rPr>
              <a:t>：主要优化了中小并发耗时，相较于原版在中小并发下耗时减少</a:t>
            </a:r>
            <a:r>
              <a:rPr lang="en-US" altLang="zh-CN" sz="1400">
                <a:sym typeface="+mn-ea"/>
              </a:rPr>
              <a:t>10~15%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7. </a:t>
            </a:r>
            <a:r>
              <a:rPr lang="zh-CN" altLang="en-US" sz="1400">
                <a:sym typeface="+mn-ea"/>
              </a:rPr>
              <a:t>库内所有算子均可选择使用</a:t>
            </a:r>
            <a:r>
              <a:rPr lang="en-US" altLang="zh-CN" sz="1400">
                <a:sym typeface="+mn-ea"/>
              </a:rPr>
              <a:t>fp16</a:t>
            </a:r>
            <a:r>
              <a:rPr lang="zh-CN" altLang="en-US" sz="1400">
                <a:sym typeface="+mn-ea"/>
              </a:rPr>
              <a:t>累加精度，在消费级显卡上耗时可减少</a:t>
            </a:r>
            <a:r>
              <a:rPr lang="en-US" altLang="zh-CN" sz="1400">
                <a:sym typeface="+mn-ea"/>
              </a:rPr>
              <a:t>30%~50%</a:t>
            </a:r>
            <a:r>
              <a:rPr lang="zh-CN" altLang="en-US" sz="1400">
                <a:sym typeface="+mn-ea"/>
              </a:rPr>
              <a:t>。开源算子大多针对专业显卡，不支持该功能。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8. </a:t>
            </a:r>
            <a:r>
              <a:rPr lang="zh-CN" altLang="en-US" sz="1400">
                <a:sym typeface="+mn-ea"/>
              </a:rPr>
              <a:t>实现混合量化动态</a:t>
            </a:r>
            <a:r>
              <a:rPr lang="en-US" altLang="zh-CN" sz="1400">
                <a:sym typeface="+mn-ea"/>
              </a:rPr>
              <a:t>kernel</a:t>
            </a:r>
            <a:r>
              <a:rPr lang="zh-CN" altLang="en-US" sz="1400">
                <a:sym typeface="+mn-ea"/>
              </a:rPr>
              <a:t>派发机制：对比</a:t>
            </a:r>
            <a:r>
              <a:rPr lang="en-US" altLang="zh-CN" sz="1400">
                <a:sym typeface="+mn-ea"/>
              </a:rPr>
              <a:t>w4a16</a:t>
            </a:r>
            <a:r>
              <a:rPr lang="zh-CN" altLang="en-US" sz="1400">
                <a:sym typeface="+mn-ea"/>
              </a:rPr>
              <a:t>模型推理，在高并发下耗时减少约</a:t>
            </a:r>
            <a:r>
              <a:rPr lang="en-US" altLang="zh-CN" sz="1400">
                <a:sym typeface="+mn-ea"/>
              </a:rPr>
              <a:t>40%</a:t>
            </a:r>
            <a:r>
              <a:rPr lang="zh-CN" altLang="en-US" sz="1400">
                <a:sym typeface="+mn-ea"/>
              </a:rPr>
              <a:t>；对</a:t>
            </a:r>
            <a:r>
              <a:rPr lang="en-US" altLang="zh-CN" sz="1400">
                <a:sym typeface="+mn-ea"/>
              </a:rPr>
              <a:t>fp8</a:t>
            </a:r>
            <a:r>
              <a:rPr lang="zh-CN" altLang="en-US" sz="1400">
                <a:sym typeface="+mn-ea"/>
              </a:rPr>
              <a:t>模型推理，在低并发下耗时减少</a:t>
            </a:r>
            <a:r>
              <a:rPr lang="en-US" altLang="zh-CN" sz="1400">
                <a:sym typeface="+mn-ea"/>
              </a:rPr>
              <a:t>40%~65%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  <a:p>
            <a:endParaRPr lang="en-US" altLang="zh-CN" sz="1400">
              <a:sym typeface="+mn-ea"/>
            </a:endParaRPr>
          </a:p>
          <a:p>
            <a:r>
              <a:rPr lang="en-US" altLang="zh-CN" sz="1400">
                <a:sym typeface="+mn-ea"/>
              </a:rPr>
              <a:t>## </a:t>
            </a:r>
            <a:r>
              <a:rPr lang="zh-CN" altLang="en-US" sz="1400">
                <a:sym typeface="+mn-ea"/>
              </a:rPr>
              <a:t>通信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9. </a:t>
            </a:r>
            <a:r>
              <a:rPr lang="zh-CN" altLang="en-US" sz="1400">
                <a:sym typeface="+mn-ea"/>
              </a:rPr>
              <a:t>优化</a:t>
            </a:r>
            <a:r>
              <a:rPr lang="en-US" altLang="zh-CN" sz="1400">
                <a:sym typeface="+mn-ea"/>
              </a:rPr>
              <a:t>sglang</a:t>
            </a:r>
            <a:r>
              <a:rPr lang="zh-CN" altLang="en-US" sz="1400">
                <a:sym typeface="+mn-ea"/>
              </a:rPr>
              <a:t>的单机多卡</a:t>
            </a:r>
            <a:r>
              <a:rPr lang="en-US" altLang="zh-CN" sz="1400">
                <a:sym typeface="+mn-ea"/>
              </a:rPr>
              <a:t>allredcue kernel</a:t>
            </a:r>
            <a:r>
              <a:rPr lang="zh-CN" altLang="en-US" sz="1400">
                <a:sym typeface="+mn-ea"/>
              </a:rPr>
              <a:t>：在</a:t>
            </a:r>
            <a:r>
              <a:rPr lang="en-US" altLang="zh-CN" sz="1400">
                <a:sym typeface="+mn-ea"/>
              </a:rPr>
              <a:t> h20 </a:t>
            </a:r>
            <a:r>
              <a:rPr lang="zh-CN" altLang="en-US" sz="1400">
                <a:sym typeface="+mn-ea"/>
              </a:rPr>
              <a:t>高并发下耗时减少</a:t>
            </a:r>
            <a:r>
              <a:rPr lang="en-US" altLang="zh-CN" sz="1400">
                <a:sym typeface="+mn-ea"/>
              </a:rPr>
              <a:t> 8%~12% 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10. </a:t>
            </a:r>
            <a:r>
              <a:rPr lang="zh-CN" altLang="en-US" sz="1400">
                <a:sym typeface="+mn-ea"/>
              </a:rPr>
              <a:t>实现</a:t>
            </a:r>
            <a:r>
              <a:rPr lang="en-US" altLang="zh-CN" sz="1400">
                <a:sym typeface="+mn-ea"/>
              </a:rPr>
              <a:t>sm89</a:t>
            </a:r>
            <a:r>
              <a:rPr lang="zh-CN" altLang="en-US" sz="1400">
                <a:sym typeface="+mn-ea"/>
              </a:rPr>
              <a:t>的单机多卡</a:t>
            </a:r>
            <a:r>
              <a:rPr lang="en-US" altLang="zh-CN" sz="1400">
                <a:sym typeface="+mn-ea"/>
              </a:rPr>
              <a:t>gemm+allreduce</a:t>
            </a:r>
            <a:r>
              <a:rPr lang="zh-CN" altLang="en-US" sz="1400">
                <a:sym typeface="+mn-ea"/>
              </a:rPr>
              <a:t>融合</a:t>
            </a:r>
            <a:r>
              <a:rPr lang="en-US" altLang="zh-CN" sz="1400">
                <a:sym typeface="+mn-ea"/>
              </a:rPr>
              <a:t>kernel</a:t>
            </a:r>
            <a:r>
              <a:rPr lang="zh-CN" altLang="en-US" sz="1400">
                <a:sym typeface="+mn-ea"/>
              </a:rPr>
              <a:t>：与直接使用</a:t>
            </a:r>
            <a:r>
              <a:rPr lang="en-US" altLang="zh-CN" sz="1400">
                <a:sym typeface="+mn-ea"/>
              </a:rPr>
              <a:t>nccl</a:t>
            </a:r>
            <a:r>
              <a:rPr lang="zh-CN" altLang="en-US" sz="1400">
                <a:sym typeface="+mn-ea"/>
              </a:rPr>
              <a:t>相比，在</a:t>
            </a:r>
            <a:r>
              <a:rPr lang="en-US" altLang="zh-CN" sz="1400">
                <a:sym typeface="+mn-ea"/>
              </a:rPr>
              <a:t>L40 </a:t>
            </a:r>
            <a:r>
              <a:rPr lang="zh-CN" altLang="en-US" sz="1400">
                <a:sym typeface="+mn-ea"/>
              </a:rPr>
              <a:t>上耗时减少</a:t>
            </a:r>
            <a:r>
              <a:rPr lang="en-US" altLang="zh-CN" sz="1400">
                <a:sym typeface="+mn-ea"/>
              </a:rPr>
              <a:t> 5%~30%</a:t>
            </a:r>
            <a:r>
              <a:rPr lang="zh-CN" altLang="en-US" sz="1400">
                <a:sym typeface="+mn-ea"/>
              </a:rPr>
              <a:t>，随数据规模波动。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11. </a:t>
            </a:r>
            <a:r>
              <a:rPr lang="zh-CN" altLang="en-US" sz="1400">
                <a:sym typeface="+mn-ea"/>
              </a:rPr>
              <a:t>初步实现</a:t>
            </a:r>
            <a:r>
              <a:rPr lang="en-US" altLang="zh-CN" sz="1400">
                <a:sym typeface="+mn-ea"/>
              </a:rPr>
              <a:t>sm90</a:t>
            </a:r>
            <a:r>
              <a:rPr lang="zh-CN" altLang="en-US" sz="1400">
                <a:sym typeface="+mn-ea"/>
              </a:rPr>
              <a:t>的单机多卡</a:t>
            </a:r>
            <a:r>
              <a:rPr lang="en-US" altLang="zh-CN" sz="1400">
                <a:sym typeface="+mn-ea"/>
              </a:rPr>
              <a:t>gemm+allreduce</a:t>
            </a:r>
            <a:r>
              <a:rPr lang="zh-CN" altLang="en-US" sz="1400">
                <a:sym typeface="+mn-ea"/>
              </a:rPr>
              <a:t>融合</a:t>
            </a:r>
            <a:r>
              <a:rPr lang="en-US" altLang="zh-CN" sz="1400">
                <a:sym typeface="+mn-ea"/>
              </a:rPr>
              <a:t>kernel</a:t>
            </a:r>
            <a:r>
              <a:rPr lang="zh-CN" altLang="en-US" sz="1400">
                <a:sym typeface="+mn-ea"/>
              </a:rPr>
              <a:t>，为扩展多机通信优化提供基础，目前因任务优先级而暂时搁置。</a:t>
            </a:r>
            <a:endParaRPr lang="zh-CN" altLang="en-US" sz="1400">
              <a:sym typeface="+mn-ea"/>
            </a:endParaRPr>
          </a:p>
          <a:p>
            <a:endParaRPr lang="en-US" altLang="zh-CN" sz="1400">
              <a:sym typeface="+mn-ea"/>
            </a:endParaRPr>
          </a:p>
          <a:p>
            <a:r>
              <a:rPr lang="en-US" altLang="zh-CN" sz="1400">
                <a:sym typeface="+mn-ea"/>
              </a:rPr>
              <a:t>## </a:t>
            </a:r>
            <a:r>
              <a:rPr lang="zh-CN" altLang="en-US" sz="1400">
                <a:sym typeface="+mn-ea"/>
              </a:rPr>
              <a:t>小并发专项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12. </a:t>
            </a:r>
            <a:r>
              <a:rPr lang="zh-CN" altLang="en-US" sz="1400">
                <a:sym typeface="+mn-ea"/>
              </a:rPr>
              <a:t>完成</a:t>
            </a:r>
            <a:r>
              <a:rPr lang="en-US" altLang="zh-CN" sz="1400">
                <a:sym typeface="+mn-ea"/>
              </a:rPr>
              <a:t>offload</a:t>
            </a:r>
            <a:r>
              <a:rPr lang="zh-CN" altLang="en-US" sz="1400">
                <a:sym typeface="+mn-ea"/>
              </a:rPr>
              <a:t>插件编写：包含多个</a:t>
            </a:r>
            <a:r>
              <a:rPr lang="en-US" altLang="zh-CN" sz="1400">
                <a:sym typeface="+mn-ea"/>
              </a:rPr>
              <a:t>avx512/amx</a:t>
            </a:r>
            <a:r>
              <a:rPr lang="zh-CN" altLang="en-US" sz="1400">
                <a:sym typeface="+mn-ea"/>
              </a:rPr>
              <a:t>的</a:t>
            </a:r>
            <a:r>
              <a:rPr lang="en-US" altLang="zh-CN" sz="1400">
                <a:sym typeface="+mn-ea"/>
              </a:rPr>
              <a:t>cpu</a:t>
            </a:r>
            <a:r>
              <a:rPr lang="zh-CN" altLang="en-US" sz="1400">
                <a:sym typeface="+mn-ea"/>
              </a:rPr>
              <a:t>算子实现及其完善的调度逻辑，插件与推理框架解耦，可灵活插入使用，按需将部分层的计算</a:t>
            </a:r>
            <a:r>
              <a:rPr lang="en-US" altLang="zh-CN" sz="1400">
                <a:sym typeface="+mn-ea"/>
              </a:rPr>
              <a:t>offload</a:t>
            </a:r>
            <a:r>
              <a:rPr lang="zh-CN" altLang="en-US" sz="1400">
                <a:sym typeface="+mn-ea"/>
              </a:rPr>
              <a:t>到</a:t>
            </a:r>
            <a:r>
              <a:rPr lang="en-US" altLang="zh-CN" sz="1400">
                <a:sym typeface="+mn-ea"/>
              </a:rPr>
              <a:t>cpu/</a:t>
            </a:r>
            <a:r>
              <a:rPr lang="zh-CN" altLang="en-US" sz="1400">
                <a:sym typeface="+mn-ea"/>
              </a:rPr>
              <a:t>内存的功能，实现大模型小显卡的部署需求。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olidFill>
                  <a:srgbClr val="FF0000"/>
                </a:solidFill>
                <a:sym typeface="+mn-ea"/>
              </a:rPr>
              <a:t>13. 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设计与编写小型</a:t>
            </a:r>
            <a:r>
              <a:rPr lang="en-US" altLang="zh-CN" sz="1400">
                <a:solidFill>
                  <a:srgbClr val="FF0000"/>
                </a:solidFill>
                <a:sym typeface="+mn-ea"/>
              </a:rPr>
              <a:t>AI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编译器用于小并发下多</a:t>
            </a:r>
            <a:r>
              <a:rPr lang="en-US" altLang="zh-CN" sz="1400">
                <a:solidFill>
                  <a:srgbClr val="FF0000"/>
                </a:solidFill>
                <a:sym typeface="+mn-ea"/>
              </a:rPr>
              <a:t>kernel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融合，正在进行中。</a:t>
            </a:r>
            <a:endParaRPr lang="zh-CN" altLang="en-US" sz="1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" name="矩形 110"/>
          <p:cNvSpPr/>
          <p:nvPr/>
        </p:nvSpPr>
        <p:spPr>
          <a:xfrm>
            <a:off x="818515" y="4815205"/>
            <a:ext cx="2206625" cy="11664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                               PrimFunc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  <a:p>
            <a:pPr algn="ctr"/>
            <a:endParaRPr lang="en-US" altLang="zh-CN" sz="1400" b="1"/>
          </a:p>
          <a:p>
            <a:pPr algn="ctr"/>
            <a:endParaRPr lang="en-US" altLang="zh-CN" sz="1400" b="1"/>
          </a:p>
          <a:p>
            <a:pPr algn="ctr"/>
            <a:endParaRPr lang="en-US" altLang="zh-CN" sz="1400" b="1"/>
          </a:p>
          <a:p>
            <a:pPr algn="ctr"/>
            <a:endParaRPr lang="en-US" altLang="zh-CN" sz="1400" b="1"/>
          </a:p>
        </p:txBody>
      </p:sp>
      <p:sp>
        <p:nvSpPr>
          <p:cNvPr id="108" name="矩形 107"/>
          <p:cNvSpPr/>
          <p:nvPr/>
        </p:nvSpPr>
        <p:spPr>
          <a:xfrm>
            <a:off x="1199515" y="2690495"/>
            <a:ext cx="1521460" cy="11563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PrimFuncPass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  <a:p>
            <a:pPr algn="ctr"/>
            <a:endParaRPr lang="en-US" altLang="zh-CN" sz="1400" b="1"/>
          </a:p>
          <a:p>
            <a:pPr algn="ctr"/>
            <a:endParaRPr lang="en-US" altLang="zh-CN" sz="1400" b="1"/>
          </a:p>
          <a:p>
            <a:pPr algn="ctr"/>
            <a:endParaRPr lang="en-US" altLang="zh-CN" sz="1400" b="1"/>
          </a:p>
          <a:p>
            <a:pPr algn="ctr"/>
            <a:endParaRPr lang="en-US" altLang="zh-CN" sz="1400" b="1"/>
          </a:p>
        </p:txBody>
      </p:sp>
      <p:sp>
        <p:nvSpPr>
          <p:cNvPr id="12" name="矩形 11"/>
          <p:cNvSpPr/>
          <p:nvPr/>
        </p:nvSpPr>
        <p:spPr>
          <a:xfrm>
            <a:off x="7560310" y="874395"/>
            <a:ext cx="1851660" cy="330200"/>
          </a:xfrm>
          <a:prstGeom prst="rect">
            <a:avLst/>
          </a:prstGeom>
          <a:gradFill>
            <a:gsLst>
              <a:gs pos="48000">
                <a:srgbClr val="050607">
                  <a:alpha val="100000"/>
                </a:srgbClr>
              </a:gs>
              <a:gs pos="46000">
                <a:srgbClr val="090B0E">
                  <a:alpha val="100000"/>
                </a:srgbClr>
              </a:gs>
              <a:gs pos="43000">
                <a:srgbClr val="12161C">
                  <a:alpha val="100000"/>
                </a:srgbClr>
              </a:gs>
              <a:gs pos="37000">
                <a:srgbClr val="242B38">
                  <a:alpha val="100000"/>
                </a:srgbClr>
              </a:gs>
              <a:gs pos="25000">
                <a:srgbClr val="475570">
                  <a:alpha val="100000"/>
                </a:srgbClr>
              </a:gs>
              <a:gs pos="0">
                <a:schemeClr val="accent1">
                  <a:lumOff val="17500"/>
                </a:schemeClr>
              </a:gs>
              <a:gs pos="100000">
                <a:schemeClr val="accent1"/>
              </a:gs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Level1-Interface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7824470" y="3263900"/>
            <a:ext cx="1483995" cy="330200"/>
          </a:xfrm>
          <a:prstGeom prst="rect">
            <a:avLst/>
          </a:prstGeom>
          <a:gradFill>
            <a:gsLst>
              <a:gs pos="0">
                <a:schemeClr val="accent1">
                  <a:lumOff val="17500"/>
                </a:schemeClr>
              </a:gs>
              <a:gs pos="100000">
                <a:schemeClr val="accent1"/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(Auto)Tuning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9418955" y="1668145"/>
            <a:ext cx="1431290" cy="560070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Standalone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Kernels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39790" y="1732915"/>
            <a:ext cx="1512570" cy="330200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2060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Megakernels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212205" y="6005830"/>
            <a:ext cx="772795" cy="330200"/>
          </a:xfrm>
          <a:prstGeom prst="rect">
            <a:avLst/>
          </a:prstGeom>
          <a:solidFill>
            <a:srgbClr val="00B05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Cuda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8164195" y="6005830"/>
            <a:ext cx="866140" cy="330200"/>
          </a:xfrm>
          <a:prstGeom prst="rect">
            <a:avLst/>
          </a:prstGeom>
          <a:solidFill>
            <a:srgbClr val="00B05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Cutlass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7186295" y="6005830"/>
            <a:ext cx="845185" cy="330200"/>
          </a:xfrm>
          <a:prstGeom prst="rect">
            <a:avLst/>
          </a:prstGeom>
          <a:solidFill>
            <a:srgbClr val="00B05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Cute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10117455" y="6005830"/>
            <a:ext cx="986155" cy="330200"/>
          </a:xfrm>
          <a:prstGeom prst="rect">
            <a:avLst/>
          </a:prstGeom>
          <a:solidFill>
            <a:srgbClr val="92D05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CublasLt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5253990" y="5012055"/>
            <a:ext cx="1333500" cy="330200"/>
          </a:xfrm>
          <a:prstGeom prst="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Instructions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9141460" y="6005830"/>
            <a:ext cx="883920" cy="330200"/>
          </a:xfrm>
          <a:prstGeom prst="rect">
            <a:avLst/>
          </a:prstGeom>
          <a:solidFill>
            <a:srgbClr val="00B05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Fo</a:t>
            </a:r>
            <a:r>
              <a:rPr lang="en-US" altLang="zh-CN"/>
              <a:t>rked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6797675" y="5012055"/>
            <a:ext cx="1504315" cy="330200"/>
          </a:xfrm>
          <a:prstGeom prst="rect">
            <a:avLst/>
          </a:prstGeom>
          <a:gradFill>
            <a:gsLst>
              <a:gs pos="0">
                <a:schemeClr val="accent1">
                  <a:lumOff val="17500"/>
                </a:schemeClr>
              </a:gs>
              <a:gs pos="100000">
                <a:schemeClr val="accent1"/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MicroKernels</a:t>
            </a:r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6797675" y="2597785"/>
            <a:ext cx="1581785" cy="330200"/>
          </a:xfrm>
          <a:prstGeom prst="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TaskScheduler</a:t>
            </a:r>
            <a:endParaRPr lang="en-US" altLang="zh-CN"/>
          </a:p>
        </p:txBody>
      </p:sp>
      <p:sp>
        <p:nvSpPr>
          <p:cNvPr id="29" name="矩形 28"/>
          <p:cNvSpPr/>
          <p:nvPr/>
        </p:nvSpPr>
        <p:spPr>
          <a:xfrm>
            <a:off x="5253990" y="2597785"/>
            <a:ext cx="1362710" cy="330200"/>
          </a:xfrm>
          <a:prstGeom prst="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TaskGraph</a:t>
            </a:r>
            <a:endParaRPr lang="en-US" altLang="zh-CN"/>
          </a:p>
        </p:txBody>
      </p:sp>
      <p:cxnSp>
        <p:nvCxnSpPr>
          <p:cNvPr id="30" name="直接箭头连接符 29"/>
          <p:cNvCxnSpPr>
            <a:stCxn id="17" idx="0"/>
            <a:endCxn id="80" idx="1"/>
          </p:cNvCxnSpPr>
          <p:nvPr/>
        </p:nvCxnSpPr>
        <p:spPr>
          <a:xfrm flipV="1">
            <a:off x="6696075" y="1503045"/>
            <a:ext cx="1029335" cy="229870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6" idx="0"/>
            <a:endCxn id="16" idx="0"/>
          </p:cNvCxnSpPr>
          <p:nvPr/>
        </p:nvCxnSpPr>
        <p:spPr>
          <a:xfrm>
            <a:off x="10134600" y="1668145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0"/>
            <a:endCxn id="80" idx="3"/>
          </p:cNvCxnSpPr>
          <p:nvPr/>
        </p:nvCxnSpPr>
        <p:spPr>
          <a:xfrm flipH="1" flipV="1">
            <a:off x="9257665" y="1503045"/>
            <a:ext cx="876935" cy="165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9" idx="0"/>
            <a:endCxn id="17" idx="2"/>
          </p:cNvCxnSpPr>
          <p:nvPr/>
        </p:nvCxnSpPr>
        <p:spPr>
          <a:xfrm flipV="1">
            <a:off x="5935345" y="2063115"/>
            <a:ext cx="760730" cy="534670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8" idx="0"/>
            <a:endCxn id="17" idx="2"/>
          </p:cNvCxnSpPr>
          <p:nvPr/>
        </p:nvCxnSpPr>
        <p:spPr>
          <a:xfrm flipH="1" flipV="1">
            <a:off x="6696075" y="2063115"/>
            <a:ext cx="892810" cy="534670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5" idx="1"/>
          </p:cNvCxnSpPr>
          <p:nvPr/>
        </p:nvCxnSpPr>
        <p:spPr>
          <a:xfrm flipH="1">
            <a:off x="7620000" y="3429000"/>
            <a:ext cx="204470" cy="50228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6" idx="0"/>
          </p:cNvCxnSpPr>
          <p:nvPr/>
        </p:nvCxnSpPr>
        <p:spPr>
          <a:xfrm flipH="1" flipV="1">
            <a:off x="6587490" y="4725670"/>
            <a:ext cx="962660" cy="28638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3" idx="0"/>
          </p:cNvCxnSpPr>
          <p:nvPr/>
        </p:nvCxnSpPr>
        <p:spPr>
          <a:xfrm flipV="1">
            <a:off x="5920740" y="4725670"/>
            <a:ext cx="666750" cy="28638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9" idx="0"/>
            <a:endCxn id="23" idx="2"/>
          </p:cNvCxnSpPr>
          <p:nvPr/>
        </p:nvCxnSpPr>
        <p:spPr>
          <a:xfrm flipH="1" flipV="1">
            <a:off x="5920740" y="5342255"/>
            <a:ext cx="678180" cy="66357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1" idx="0"/>
            <a:endCxn id="23" idx="2"/>
          </p:cNvCxnSpPr>
          <p:nvPr/>
        </p:nvCxnSpPr>
        <p:spPr>
          <a:xfrm flipH="1" flipV="1">
            <a:off x="5920740" y="5342255"/>
            <a:ext cx="1688465" cy="66357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21" idx="0"/>
            <a:endCxn id="26" idx="2"/>
          </p:cNvCxnSpPr>
          <p:nvPr/>
        </p:nvCxnSpPr>
        <p:spPr>
          <a:xfrm flipH="1" flipV="1">
            <a:off x="7550150" y="5342255"/>
            <a:ext cx="59055" cy="66357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曲线连接符 56"/>
          <p:cNvCxnSpPr>
            <a:stCxn id="26" idx="3"/>
            <a:endCxn id="16" idx="2"/>
          </p:cNvCxnSpPr>
          <p:nvPr/>
        </p:nvCxnSpPr>
        <p:spPr>
          <a:xfrm flipV="1">
            <a:off x="8301990" y="2228215"/>
            <a:ext cx="1832610" cy="294894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曲线连接符 57"/>
          <p:cNvCxnSpPr>
            <a:stCxn id="21" idx="3"/>
            <a:endCxn id="16" idx="2"/>
          </p:cNvCxnSpPr>
          <p:nvPr/>
        </p:nvCxnSpPr>
        <p:spPr>
          <a:xfrm flipV="1">
            <a:off x="8031480" y="2228215"/>
            <a:ext cx="2103120" cy="394271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曲线连接符 61"/>
          <p:cNvCxnSpPr>
            <a:stCxn id="20" idx="3"/>
            <a:endCxn id="16" idx="2"/>
          </p:cNvCxnSpPr>
          <p:nvPr/>
        </p:nvCxnSpPr>
        <p:spPr>
          <a:xfrm flipV="1">
            <a:off x="9030335" y="2228215"/>
            <a:ext cx="1104265" cy="394271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24" idx="0"/>
            <a:endCxn id="16" idx="2"/>
          </p:cNvCxnSpPr>
          <p:nvPr/>
        </p:nvCxnSpPr>
        <p:spPr>
          <a:xfrm flipV="1">
            <a:off x="9583420" y="2228215"/>
            <a:ext cx="551180" cy="37776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22" idx="0"/>
            <a:endCxn id="16" idx="2"/>
          </p:cNvCxnSpPr>
          <p:nvPr/>
        </p:nvCxnSpPr>
        <p:spPr>
          <a:xfrm flipH="1" flipV="1">
            <a:off x="10134600" y="2228215"/>
            <a:ext cx="476250" cy="37776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19" idx="0"/>
            <a:endCxn id="26" idx="2"/>
          </p:cNvCxnSpPr>
          <p:nvPr/>
        </p:nvCxnSpPr>
        <p:spPr>
          <a:xfrm flipV="1">
            <a:off x="6598920" y="5342255"/>
            <a:ext cx="951230" cy="66357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23" idx="2"/>
          </p:cNvCxnSpPr>
          <p:nvPr/>
        </p:nvCxnSpPr>
        <p:spPr>
          <a:xfrm flipV="1">
            <a:off x="5646420" y="5342255"/>
            <a:ext cx="274320" cy="66357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 rot="0">
            <a:off x="5554980" y="3136265"/>
            <a:ext cx="2065020" cy="1589405"/>
            <a:chOff x="2661" y="3984"/>
            <a:chExt cx="3252" cy="2503"/>
          </a:xfrm>
        </p:grpSpPr>
        <p:sp>
          <p:nvSpPr>
            <p:cNvPr id="76" name="矩形 75"/>
            <p:cNvSpPr/>
            <p:nvPr/>
          </p:nvSpPr>
          <p:spPr>
            <a:xfrm>
              <a:off x="2661" y="3984"/>
              <a:ext cx="3252" cy="2503"/>
            </a:xfrm>
            <a:prstGeom prst="rect">
              <a:avLst/>
            </a:prstGeom>
            <a:solidFill>
              <a:srgbClr val="FFC000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MiniCompiler</a:t>
              </a:r>
              <a:endPara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71" name="矩形 70"/>
            <p:cNvSpPr/>
            <p:nvPr/>
          </p:nvSpPr>
          <p:spPr>
            <a:xfrm>
              <a:off x="2969" y="5750"/>
              <a:ext cx="2652" cy="520"/>
            </a:xfrm>
            <a:prstGeom prst="rect">
              <a:avLst/>
            </a:prstGeom>
            <a:solidFill>
              <a:schemeClr val="accent2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Graph-Frontend</a:t>
              </a:r>
              <a:endParaRPr lang="en-US" altLang="zh-CN"/>
            </a:p>
          </p:txBody>
        </p:sp>
        <p:sp>
          <p:nvSpPr>
            <p:cNvPr id="73" name="矩形 72"/>
            <p:cNvSpPr/>
            <p:nvPr/>
          </p:nvSpPr>
          <p:spPr>
            <a:xfrm>
              <a:off x="3218" y="5103"/>
              <a:ext cx="2147" cy="520"/>
            </a:xfrm>
            <a:prstGeom prst="rect">
              <a:avLst/>
            </a:prstGeom>
            <a:solidFill>
              <a:schemeClr val="accent2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IR-Scheduler</a:t>
              </a:r>
              <a:endParaRPr lang="en-US" altLang="zh-CN"/>
            </a:p>
          </p:txBody>
        </p:sp>
        <p:sp>
          <p:nvSpPr>
            <p:cNvPr id="75" name="矩形 74"/>
            <p:cNvSpPr/>
            <p:nvPr/>
          </p:nvSpPr>
          <p:spPr>
            <a:xfrm>
              <a:off x="2809" y="4452"/>
              <a:ext cx="2994" cy="520"/>
            </a:xfrm>
            <a:prstGeom prst="rect">
              <a:avLst/>
            </a:prstGeom>
            <a:solidFill>
              <a:schemeClr val="accent2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CodeGen-Backend</a:t>
              </a:r>
              <a:endParaRPr lang="en-US" altLang="zh-CN"/>
            </a:p>
          </p:txBody>
        </p:sp>
      </p:grpSp>
      <p:cxnSp>
        <p:nvCxnSpPr>
          <p:cNvPr id="78" name="直接箭头连接符 77"/>
          <p:cNvCxnSpPr>
            <a:endCxn id="28" idx="2"/>
          </p:cNvCxnSpPr>
          <p:nvPr/>
        </p:nvCxnSpPr>
        <p:spPr>
          <a:xfrm flipV="1">
            <a:off x="6587490" y="2927985"/>
            <a:ext cx="1001395" cy="208280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endCxn id="29" idx="2"/>
          </p:cNvCxnSpPr>
          <p:nvPr/>
        </p:nvCxnSpPr>
        <p:spPr>
          <a:xfrm flipH="1" flipV="1">
            <a:off x="5935345" y="2927985"/>
            <a:ext cx="652145" cy="208280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曲线连接符 58"/>
          <p:cNvCxnSpPr>
            <a:stCxn id="19" idx="3"/>
            <a:endCxn id="16" idx="2"/>
          </p:cNvCxnSpPr>
          <p:nvPr/>
        </p:nvCxnSpPr>
        <p:spPr>
          <a:xfrm flipV="1">
            <a:off x="6985000" y="2228215"/>
            <a:ext cx="3149600" cy="394271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7725410" y="1337945"/>
            <a:ext cx="1532255" cy="330200"/>
          </a:xfrm>
          <a:prstGeom prst="rect">
            <a:avLst/>
          </a:prstGeom>
          <a:gradFill>
            <a:gsLst>
              <a:gs pos="0">
                <a:schemeClr val="accent1">
                  <a:lumOff val="17500"/>
                </a:schemeClr>
              </a:gs>
              <a:gs pos="100000">
                <a:schemeClr val="accent1"/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Dispatcher</a:t>
            </a:r>
            <a:endParaRPr lang="en-US" altLang="zh-CN"/>
          </a:p>
        </p:txBody>
      </p:sp>
      <p:cxnSp>
        <p:nvCxnSpPr>
          <p:cNvPr id="81" name="直接箭头连接符 80"/>
          <p:cNvCxnSpPr>
            <a:stCxn id="80" idx="0"/>
            <a:endCxn id="12" idx="2"/>
          </p:cNvCxnSpPr>
          <p:nvPr/>
        </p:nvCxnSpPr>
        <p:spPr>
          <a:xfrm flipH="1" flipV="1">
            <a:off x="8486140" y="1204595"/>
            <a:ext cx="5715" cy="13335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曲线连接符 81"/>
          <p:cNvCxnSpPr>
            <a:stCxn id="15" idx="3"/>
            <a:endCxn id="16" idx="2"/>
          </p:cNvCxnSpPr>
          <p:nvPr/>
        </p:nvCxnSpPr>
        <p:spPr>
          <a:xfrm flipV="1">
            <a:off x="9308465" y="2228215"/>
            <a:ext cx="826135" cy="120078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89" idx="2"/>
          </p:cNvCxnSpPr>
          <p:nvPr/>
        </p:nvCxnSpPr>
        <p:spPr>
          <a:xfrm flipV="1">
            <a:off x="7434580" y="4177030"/>
            <a:ext cx="1137920" cy="24574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7725410" y="3846830"/>
            <a:ext cx="1693545" cy="330200"/>
          </a:xfrm>
          <a:prstGeom prst="rect">
            <a:avLst/>
          </a:prstGeom>
          <a:gradFill>
            <a:gsLst>
              <a:gs pos="48000">
                <a:srgbClr val="050607">
                  <a:alpha val="100000"/>
                </a:srgbClr>
              </a:gs>
              <a:gs pos="46000">
                <a:srgbClr val="090B0E">
                  <a:alpha val="100000"/>
                </a:srgbClr>
              </a:gs>
              <a:gs pos="43000">
                <a:srgbClr val="12161C">
                  <a:alpha val="100000"/>
                </a:srgbClr>
              </a:gs>
              <a:gs pos="37000">
                <a:srgbClr val="242B38">
                  <a:alpha val="100000"/>
                </a:srgbClr>
              </a:gs>
              <a:gs pos="25000">
                <a:srgbClr val="475570">
                  <a:alpha val="100000"/>
                </a:srgbClr>
              </a:gs>
              <a:gs pos="0">
                <a:schemeClr val="accent1">
                  <a:lumOff val="17500"/>
                </a:schemeClr>
              </a:gs>
              <a:gs pos="100000">
                <a:schemeClr val="accent1"/>
              </a:gs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Level2-Interface</a:t>
            </a:r>
            <a:endParaRPr lang="en-US" altLang="zh-CN"/>
          </a:p>
        </p:txBody>
      </p:sp>
      <p:sp>
        <p:nvSpPr>
          <p:cNvPr id="91" name="矩形 90"/>
          <p:cNvSpPr/>
          <p:nvPr/>
        </p:nvSpPr>
        <p:spPr>
          <a:xfrm>
            <a:off x="477520" y="677545"/>
            <a:ext cx="10835005" cy="5834380"/>
          </a:xfrm>
          <a:prstGeom prst="rect">
            <a:avLst/>
          </a:prstGeom>
          <a:ln w="666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4933950" y="874395"/>
            <a:ext cx="901700" cy="395605"/>
          </a:xfrm>
          <a:prstGeom prst="rect">
            <a:avLst/>
          </a:prstGeom>
          <a:ln w="254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2400" b="1"/>
              <a:t>XOP</a:t>
            </a:r>
            <a:endParaRPr lang="en-US" altLang="zh-CN" sz="2400" b="1"/>
          </a:p>
        </p:txBody>
      </p:sp>
      <p:sp>
        <p:nvSpPr>
          <p:cNvPr id="99" name="矩形 98"/>
          <p:cNvSpPr/>
          <p:nvPr/>
        </p:nvSpPr>
        <p:spPr>
          <a:xfrm>
            <a:off x="7639050" y="2148840"/>
            <a:ext cx="1659890" cy="330200"/>
          </a:xfrm>
          <a:prstGeom prst="rect">
            <a:avLst/>
          </a:prstGeom>
          <a:gradFill>
            <a:gsLst>
              <a:gs pos="0">
                <a:schemeClr val="accent1">
                  <a:lumOff val="17500"/>
                </a:schemeClr>
              </a:gs>
              <a:gs pos="100000">
                <a:schemeClr val="accent1"/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ResourceMgr</a:t>
            </a:r>
            <a:endParaRPr lang="en-US" altLang="zh-CN"/>
          </a:p>
        </p:txBody>
      </p:sp>
      <p:cxnSp>
        <p:nvCxnSpPr>
          <p:cNvPr id="100" name="直接箭头连接符 99"/>
          <p:cNvCxnSpPr>
            <a:stCxn id="99" idx="0"/>
            <a:endCxn id="17" idx="3"/>
          </p:cNvCxnSpPr>
          <p:nvPr/>
        </p:nvCxnSpPr>
        <p:spPr>
          <a:xfrm flipH="1" flipV="1">
            <a:off x="7452360" y="1898015"/>
            <a:ext cx="1016635" cy="25082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9" idx="0"/>
            <a:endCxn id="16" idx="1"/>
          </p:cNvCxnSpPr>
          <p:nvPr/>
        </p:nvCxnSpPr>
        <p:spPr>
          <a:xfrm flipV="1">
            <a:off x="8468995" y="1948180"/>
            <a:ext cx="949960" cy="20066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315335" y="2575560"/>
            <a:ext cx="1188085" cy="33020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CUDA Source</a:t>
            </a:r>
            <a:endParaRPr lang="en-US" altLang="zh-CN" sz="1400"/>
          </a:p>
        </p:txBody>
      </p:sp>
      <p:sp>
        <p:nvSpPr>
          <p:cNvPr id="51" name="矩形 50"/>
          <p:cNvSpPr/>
          <p:nvPr/>
        </p:nvSpPr>
        <p:spPr>
          <a:xfrm>
            <a:off x="3426460" y="3067050"/>
            <a:ext cx="965200" cy="33020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Code</a:t>
            </a:r>
            <a:r>
              <a:rPr lang="en-US" altLang="zh-CN" sz="1400"/>
              <a:t>Gen</a:t>
            </a:r>
            <a:endParaRPr lang="en-US" altLang="zh-CN" sz="1400"/>
          </a:p>
        </p:txBody>
      </p:sp>
      <p:sp>
        <p:nvSpPr>
          <p:cNvPr id="74" name="矩形 73"/>
          <p:cNvSpPr/>
          <p:nvPr/>
        </p:nvSpPr>
        <p:spPr>
          <a:xfrm>
            <a:off x="3496310" y="3593465"/>
            <a:ext cx="819150" cy="33020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lower</a:t>
            </a:r>
            <a:endParaRPr lang="en-US" altLang="zh-CN" sz="1400"/>
          </a:p>
        </p:txBody>
      </p:sp>
      <p:sp>
        <p:nvSpPr>
          <p:cNvPr id="60" name="矩形 59"/>
          <p:cNvSpPr/>
          <p:nvPr/>
        </p:nvSpPr>
        <p:spPr>
          <a:xfrm>
            <a:off x="3977005" y="4125595"/>
            <a:ext cx="1109345" cy="41656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AutoTuner</a:t>
            </a:r>
            <a:endParaRPr lang="en-US" altLang="zh-CN" sz="1400"/>
          </a:p>
        </p:txBody>
      </p:sp>
      <p:sp>
        <p:nvSpPr>
          <p:cNvPr id="52" name="矩形 51"/>
          <p:cNvSpPr/>
          <p:nvPr/>
        </p:nvSpPr>
        <p:spPr>
          <a:xfrm>
            <a:off x="3394710" y="4725670"/>
            <a:ext cx="1108710" cy="417195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Manual</a:t>
            </a:r>
            <a:endParaRPr lang="en-US" altLang="zh-CN" sz="1400"/>
          </a:p>
          <a:p>
            <a:pPr algn="ctr"/>
            <a:r>
              <a:rPr lang="en-US" altLang="zh-CN" sz="1400"/>
              <a:t>SearchSpace</a:t>
            </a:r>
            <a:endParaRPr lang="en-US" altLang="zh-CN" sz="1400"/>
          </a:p>
        </p:txBody>
      </p:sp>
      <p:sp>
        <p:nvSpPr>
          <p:cNvPr id="85" name="矩形 84"/>
          <p:cNvSpPr/>
          <p:nvPr/>
        </p:nvSpPr>
        <p:spPr>
          <a:xfrm>
            <a:off x="2679065" y="4119880"/>
            <a:ext cx="1108710" cy="41656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Heuristic</a:t>
            </a:r>
            <a:endParaRPr lang="en-US" altLang="zh-CN" sz="1400"/>
          </a:p>
          <a:p>
            <a:pPr algn="ctr"/>
            <a:r>
              <a:rPr lang="en-US" altLang="zh-CN" sz="1400"/>
              <a:t>Config</a:t>
            </a:r>
            <a:endParaRPr lang="en-US" altLang="zh-CN" sz="1400"/>
          </a:p>
        </p:txBody>
      </p:sp>
      <p:sp>
        <p:nvSpPr>
          <p:cNvPr id="40" name="矩形 39"/>
          <p:cNvSpPr/>
          <p:nvPr/>
        </p:nvSpPr>
        <p:spPr>
          <a:xfrm>
            <a:off x="3432810" y="5342255"/>
            <a:ext cx="1054735" cy="370205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DSL</a:t>
            </a:r>
            <a:endParaRPr lang="en-US" altLang="zh-CN" sz="1400"/>
          </a:p>
        </p:txBody>
      </p:sp>
      <p:sp>
        <p:nvSpPr>
          <p:cNvPr id="65" name="矩形 64"/>
          <p:cNvSpPr/>
          <p:nvPr/>
        </p:nvSpPr>
        <p:spPr>
          <a:xfrm>
            <a:off x="1324610" y="1991360"/>
            <a:ext cx="1054735" cy="3302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Kernel</a:t>
            </a:r>
            <a:r>
              <a:rPr lang="en-US" altLang="zh-CN" sz="1400"/>
              <a:t>s</a:t>
            </a:r>
            <a:endParaRPr lang="en-US" altLang="zh-CN" sz="1400"/>
          </a:p>
        </p:txBody>
      </p:sp>
      <p:sp>
        <p:nvSpPr>
          <p:cNvPr id="53" name="矩形 52"/>
          <p:cNvSpPr/>
          <p:nvPr/>
        </p:nvSpPr>
        <p:spPr>
          <a:xfrm>
            <a:off x="1323975" y="1532255"/>
            <a:ext cx="1054735" cy="3302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TVM_FFI</a:t>
            </a:r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273810" y="918210"/>
            <a:ext cx="1155065" cy="4705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MicroKernels</a:t>
            </a:r>
            <a:endParaRPr lang="en-US" altLang="zh-CN" sz="1400"/>
          </a:p>
          <a:p>
            <a:pPr algn="ctr"/>
            <a:r>
              <a:rPr lang="en-US" altLang="zh-CN" sz="1400"/>
              <a:t>T</a:t>
            </a:r>
            <a:r>
              <a:rPr lang="en-US" altLang="zh-CN" sz="1400"/>
              <a:t>est</a:t>
            </a:r>
            <a:endParaRPr lang="en-US" altLang="zh-CN" sz="1400"/>
          </a:p>
        </p:txBody>
      </p:sp>
      <p:cxnSp>
        <p:nvCxnSpPr>
          <p:cNvPr id="4" name="直接箭头连接符 3"/>
          <p:cNvCxnSpPr>
            <a:stCxn id="51" idx="0"/>
            <a:endCxn id="11" idx="2"/>
          </p:cNvCxnSpPr>
          <p:nvPr/>
        </p:nvCxnSpPr>
        <p:spPr>
          <a:xfrm flipV="1">
            <a:off x="3909060" y="2905760"/>
            <a:ext cx="635" cy="16129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曲线连接符 6"/>
          <p:cNvCxnSpPr>
            <a:stCxn id="50" idx="3"/>
            <a:endCxn id="26" idx="1"/>
          </p:cNvCxnSpPr>
          <p:nvPr/>
        </p:nvCxnSpPr>
        <p:spPr>
          <a:xfrm>
            <a:off x="4586605" y="2148205"/>
            <a:ext cx="2211070" cy="3028950"/>
          </a:xfrm>
          <a:prstGeom prst="curvedConnector3">
            <a:avLst>
              <a:gd name="adj1" fmla="val 37995"/>
            </a:avLst>
          </a:prstGeom>
          <a:ln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74" idx="0"/>
            <a:endCxn id="51" idx="2"/>
          </p:cNvCxnSpPr>
          <p:nvPr/>
        </p:nvCxnSpPr>
        <p:spPr>
          <a:xfrm flipV="1">
            <a:off x="3905885" y="3397250"/>
            <a:ext cx="3175" cy="19621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74" idx="2"/>
          </p:cNvCxnSpPr>
          <p:nvPr/>
        </p:nvCxnSpPr>
        <p:spPr>
          <a:xfrm flipH="1" flipV="1">
            <a:off x="3905885" y="3923665"/>
            <a:ext cx="626110" cy="20193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5" idx="0"/>
            <a:endCxn id="74" idx="2"/>
          </p:cNvCxnSpPr>
          <p:nvPr/>
        </p:nvCxnSpPr>
        <p:spPr>
          <a:xfrm flipV="1">
            <a:off x="3233420" y="3923665"/>
            <a:ext cx="672465" cy="19621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52" idx="0"/>
          </p:cNvCxnSpPr>
          <p:nvPr/>
        </p:nvCxnSpPr>
        <p:spPr>
          <a:xfrm flipV="1">
            <a:off x="3949065" y="4542155"/>
            <a:ext cx="666115" cy="18351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2" idx="0"/>
            <a:endCxn id="85" idx="2"/>
          </p:cNvCxnSpPr>
          <p:nvPr/>
        </p:nvCxnSpPr>
        <p:spPr>
          <a:xfrm flipH="1" flipV="1">
            <a:off x="3233420" y="4536440"/>
            <a:ext cx="715645" cy="18923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40" idx="0"/>
            <a:endCxn id="52" idx="2"/>
          </p:cNvCxnSpPr>
          <p:nvPr/>
        </p:nvCxnSpPr>
        <p:spPr>
          <a:xfrm flipH="1" flipV="1">
            <a:off x="3949065" y="5142865"/>
            <a:ext cx="11430" cy="19939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1" idx="0"/>
            <a:endCxn id="50" idx="2"/>
          </p:cNvCxnSpPr>
          <p:nvPr/>
        </p:nvCxnSpPr>
        <p:spPr>
          <a:xfrm flipV="1">
            <a:off x="3909695" y="2364740"/>
            <a:ext cx="0" cy="21082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65" idx="0"/>
            <a:endCxn id="53" idx="2"/>
          </p:cNvCxnSpPr>
          <p:nvPr/>
        </p:nvCxnSpPr>
        <p:spPr>
          <a:xfrm flipH="1" flipV="1">
            <a:off x="1851660" y="1862455"/>
            <a:ext cx="635" cy="12890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53" idx="0"/>
            <a:endCxn id="2" idx="2"/>
          </p:cNvCxnSpPr>
          <p:nvPr/>
        </p:nvCxnSpPr>
        <p:spPr>
          <a:xfrm flipV="1">
            <a:off x="1851660" y="1388745"/>
            <a:ext cx="0" cy="14351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235325" y="1435735"/>
            <a:ext cx="1353820" cy="33020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KernelFragment</a:t>
            </a:r>
            <a:endParaRPr lang="en-US" altLang="zh-CN" sz="1400"/>
          </a:p>
        </p:txBody>
      </p:sp>
      <p:cxnSp>
        <p:nvCxnSpPr>
          <p:cNvPr id="48" name="直接箭头连接符 47"/>
          <p:cNvCxnSpPr>
            <a:stCxn id="46" idx="2"/>
            <a:endCxn id="50" idx="0"/>
          </p:cNvCxnSpPr>
          <p:nvPr/>
        </p:nvCxnSpPr>
        <p:spPr>
          <a:xfrm flipH="1">
            <a:off x="3909695" y="1765935"/>
            <a:ext cx="2540" cy="16510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3232785" y="1931035"/>
            <a:ext cx="1353820" cy="433705"/>
          </a:xfrm>
          <a:prstGeom prst="rect">
            <a:avLst/>
          </a:prstGeom>
          <a:solidFill>
            <a:srgbClr val="7030A0"/>
          </a:solidFill>
          <a:ln w="38100">
            <a:solidFill>
              <a:schemeClr val="accent2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Micro</a:t>
            </a:r>
            <a:r>
              <a:rPr lang="en-US" altLang="zh-CN" sz="1400">
                <a:sym typeface="+mn-ea"/>
              </a:rPr>
              <a:t>Kernel</a:t>
            </a:r>
            <a:endParaRPr lang="en-US" altLang="zh-CN" sz="1400">
              <a:sym typeface="+mn-ea"/>
            </a:endParaRPr>
          </a:p>
          <a:p>
            <a:pPr algn="ctr"/>
            <a:r>
              <a:rPr lang="en-US" altLang="zh-CN" sz="1400">
                <a:sym typeface="+mn-ea"/>
              </a:rPr>
              <a:t>Adapter</a:t>
            </a:r>
            <a:endParaRPr lang="en-US" altLang="zh-CN" sz="1400">
              <a:sym typeface="+mn-ea"/>
            </a:endParaRPr>
          </a:p>
        </p:txBody>
      </p:sp>
      <p:cxnSp>
        <p:nvCxnSpPr>
          <p:cNvPr id="55" name="直接箭头连接符 54"/>
          <p:cNvCxnSpPr>
            <a:stCxn id="47" idx="1"/>
            <a:endCxn id="65" idx="3"/>
          </p:cNvCxnSpPr>
          <p:nvPr/>
        </p:nvCxnSpPr>
        <p:spPr>
          <a:xfrm flipH="1">
            <a:off x="2379345" y="2156460"/>
            <a:ext cx="199390" cy="0"/>
          </a:xfrm>
          <a:prstGeom prst="straightConnector1">
            <a:avLst/>
          </a:prstGeom>
          <a:ln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20" idx="0"/>
            <a:endCxn id="26" idx="2"/>
          </p:cNvCxnSpPr>
          <p:nvPr/>
        </p:nvCxnSpPr>
        <p:spPr>
          <a:xfrm flipH="1" flipV="1">
            <a:off x="7550150" y="5342255"/>
            <a:ext cx="1047115" cy="663575"/>
          </a:xfrm>
          <a:prstGeom prst="straightConnector1">
            <a:avLst/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5314950" y="6005830"/>
            <a:ext cx="772795" cy="330200"/>
          </a:xfrm>
          <a:prstGeom prst="rect">
            <a:avLst/>
          </a:prstGeom>
          <a:solidFill>
            <a:srgbClr val="00B05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PTX</a:t>
            </a:r>
            <a:endParaRPr lang="en-US" altLang="zh-CN"/>
          </a:p>
        </p:txBody>
      </p:sp>
      <p:cxnSp>
        <p:nvCxnSpPr>
          <p:cNvPr id="67" name="曲线连接符 66"/>
          <p:cNvCxnSpPr>
            <a:stCxn id="23" idx="1"/>
            <a:endCxn id="50" idx="3"/>
          </p:cNvCxnSpPr>
          <p:nvPr/>
        </p:nvCxnSpPr>
        <p:spPr>
          <a:xfrm rot="10800000">
            <a:off x="4586605" y="2148205"/>
            <a:ext cx="667385" cy="3028950"/>
          </a:xfrm>
          <a:prstGeom prst="curvedConnector3">
            <a:avLst>
              <a:gd name="adj1" fmla="val 15604"/>
            </a:avLst>
          </a:prstGeom>
          <a:ln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2092325" y="5572125"/>
            <a:ext cx="889000" cy="3289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tvm.tir.op</a:t>
            </a:r>
            <a:endParaRPr lang="en-US" altLang="zh-CN" sz="1400"/>
          </a:p>
        </p:txBody>
      </p:sp>
      <p:sp>
        <p:nvSpPr>
          <p:cNvPr id="84" name="矩形 83"/>
          <p:cNvSpPr/>
          <p:nvPr/>
        </p:nvSpPr>
        <p:spPr>
          <a:xfrm>
            <a:off x="2092325" y="5135880"/>
            <a:ext cx="889000" cy="328295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TileOp</a:t>
            </a:r>
            <a:endParaRPr lang="en-US" altLang="zh-CN" sz="1400"/>
          </a:p>
        </p:txBody>
      </p:sp>
      <p:sp>
        <p:nvSpPr>
          <p:cNvPr id="87" name="矩形 86"/>
          <p:cNvSpPr/>
          <p:nvPr/>
        </p:nvSpPr>
        <p:spPr>
          <a:xfrm>
            <a:off x="923925" y="5299710"/>
            <a:ext cx="889000" cy="33020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intrinsics</a:t>
            </a:r>
            <a:endParaRPr lang="en-US" altLang="zh-CN" sz="1400"/>
          </a:p>
        </p:txBody>
      </p:sp>
      <p:sp>
        <p:nvSpPr>
          <p:cNvPr id="93" name="矩形 92"/>
          <p:cNvSpPr/>
          <p:nvPr/>
        </p:nvSpPr>
        <p:spPr>
          <a:xfrm>
            <a:off x="923290" y="4871085"/>
            <a:ext cx="889000" cy="328295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Layout</a:t>
            </a:r>
            <a:endParaRPr lang="en-US" altLang="zh-CN" sz="1400"/>
          </a:p>
        </p:txBody>
      </p:sp>
      <p:sp>
        <p:nvSpPr>
          <p:cNvPr id="96" name="矩形 95"/>
          <p:cNvSpPr/>
          <p:nvPr/>
        </p:nvSpPr>
        <p:spPr>
          <a:xfrm>
            <a:off x="3392805" y="5968365"/>
            <a:ext cx="1693545" cy="330200"/>
          </a:xfrm>
          <a:prstGeom prst="rect">
            <a:avLst/>
          </a:prstGeom>
          <a:gradFill>
            <a:gsLst>
              <a:gs pos="48000">
                <a:srgbClr val="050607">
                  <a:alpha val="100000"/>
                </a:srgbClr>
              </a:gs>
              <a:gs pos="46000">
                <a:srgbClr val="090B0E">
                  <a:alpha val="100000"/>
                </a:srgbClr>
              </a:gs>
              <a:gs pos="43000">
                <a:srgbClr val="12161C">
                  <a:alpha val="100000"/>
                </a:srgbClr>
              </a:gs>
              <a:gs pos="37000">
                <a:srgbClr val="242B38">
                  <a:alpha val="100000"/>
                </a:srgbClr>
              </a:gs>
              <a:gs pos="25000">
                <a:srgbClr val="475570">
                  <a:alpha val="100000"/>
                </a:srgbClr>
              </a:gs>
              <a:gs pos="0">
                <a:schemeClr val="accent1">
                  <a:lumOff val="17500"/>
                </a:schemeClr>
              </a:gs>
              <a:gs pos="100000">
                <a:schemeClr val="accent1"/>
              </a:gs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Level3-Interface</a:t>
            </a:r>
            <a:endParaRPr lang="en-US" altLang="zh-CN"/>
          </a:p>
        </p:txBody>
      </p:sp>
      <p:cxnSp>
        <p:nvCxnSpPr>
          <p:cNvPr id="98" name="直接箭头连接符 97"/>
          <p:cNvCxnSpPr>
            <a:stCxn id="40" idx="2"/>
            <a:endCxn id="96" idx="0"/>
          </p:cNvCxnSpPr>
          <p:nvPr/>
        </p:nvCxnSpPr>
        <p:spPr>
          <a:xfrm>
            <a:off x="3960495" y="5712460"/>
            <a:ext cx="279400" cy="25590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stCxn id="93" idx="3"/>
            <a:endCxn id="84" idx="1"/>
          </p:cNvCxnSpPr>
          <p:nvPr/>
        </p:nvCxnSpPr>
        <p:spPr>
          <a:xfrm>
            <a:off x="1812290" y="5035550"/>
            <a:ext cx="280035" cy="26479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87" idx="3"/>
            <a:endCxn id="84" idx="1"/>
          </p:cNvCxnSpPr>
          <p:nvPr/>
        </p:nvCxnSpPr>
        <p:spPr>
          <a:xfrm flipV="1">
            <a:off x="1812925" y="5300345"/>
            <a:ext cx="279400" cy="16446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1265555" y="3032125"/>
            <a:ext cx="1413510" cy="330200"/>
          </a:xfrm>
          <a:prstGeom prst="rect">
            <a:avLst/>
          </a:prstGeom>
          <a:solidFill>
            <a:srgbClr val="7030A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ExtarTransform</a:t>
            </a:r>
            <a:endParaRPr lang="en-US" altLang="zh-CN" sz="1400"/>
          </a:p>
        </p:txBody>
      </p:sp>
      <p:sp>
        <p:nvSpPr>
          <p:cNvPr id="105" name="矩形 104"/>
          <p:cNvSpPr/>
          <p:nvPr/>
        </p:nvSpPr>
        <p:spPr>
          <a:xfrm>
            <a:off x="1265555" y="3429000"/>
            <a:ext cx="1413510" cy="3289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tvm.tir.transform</a:t>
            </a:r>
            <a:endParaRPr lang="en-US" altLang="zh-CN" sz="1400"/>
          </a:p>
        </p:txBody>
      </p:sp>
      <p:sp>
        <p:nvSpPr>
          <p:cNvPr id="106" name="右大括号 105"/>
          <p:cNvSpPr/>
          <p:nvPr/>
        </p:nvSpPr>
        <p:spPr>
          <a:xfrm>
            <a:off x="2720975" y="2648585"/>
            <a:ext cx="216535" cy="124079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7" name="直接箭头连接符 106"/>
          <p:cNvCxnSpPr>
            <a:stCxn id="106" idx="1"/>
            <a:endCxn id="74" idx="1"/>
          </p:cNvCxnSpPr>
          <p:nvPr/>
        </p:nvCxnSpPr>
        <p:spPr>
          <a:xfrm>
            <a:off x="2937510" y="3268980"/>
            <a:ext cx="558800" cy="489585"/>
          </a:xfrm>
          <a:prstGeom prst="straightConnector1">
            <a:avLst/>
          </a:prstGeom>
          <a:ln w="12700" cap="flat" cmpd="sng" algn="ctr">
            <a:solidFill>
              <a:srgbClr val="00B05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右大括号 109"/>
          <p:cNvSpPr/>
          <p:nvPr/>
        </p:nvSpPr>
        <p:spPr>
          <a:xfrm>
            <a:off x="3025140" y="4815205"/>
            <a:ext cx="216535" cy="11664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2" name="直接箭头连接符 111"/>
          <p:cNvCxnSpPr>
            <a:stCxn id="110" idx="1"/>
            <a:endCxn id="40" idx="1"/>
          </p:cNvCxnSpPr>
          <p:nvPr/>
        </p:nvCxnSpPr>
        <p:spPr>
          <a:xfrm>
            <a:off x="3241675" y="5398770"/>
            <a:ext cx="191135" cy="128905"/>
          </a:xfrm>
          <a:prstGeom prst="straightConnector1">
            <a:avLst/>
          </a:prstGeom>
          <a:ln w="12700" cap="flat" cmpd="sng" algn="ctr">
            <a:solidFill>
              <a:srgbClr val="00B05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曲线连接符 5"/>
          <p:cNvCxnSpPr>
            <a:stCxn id="60" idx="0"/>
            <a:endCxn id="15" idx="0"/>
          </p:cNvCxnSpPr>
          <p:nvPr/>
        </p:nvCxnSpPr>
        <p:spPr>
          <a:xfrm rot="16200000">
            <a:off x="6118225" y="1677035"/>
            <a:ext cx="861695" cy="4034790"/>
          </a:xfrm>
          <a:prstGeom prst="curvedConnector3">
            <a:avLst>
              <a:gd name="adj1" fmla="val 127671"/>
            </a:avLst>
          </a:prstGeom>
          <a:ln>
            <a:solidFill>
              <a:srgbClr val="FF000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2578735" y="1991360"/>
            <a:ext cx="490855" cy="3302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glue</a:t>
            </a:r>
            <a:endParaRPr lang="en-US" altLang="zh-CN" sz="1400"/>
          </a:p>
        </p:txBody>
      </p:sp>
      <p:cxnSp>
        <p:nvCxnSpPr>
          <p:cNvPr id="49" name="直接箭头连接符 48"/>
          <p:cNvCxnSpPr>
            <a:stCxn id="50" idx="1"/>
            <a:endCxn id="47" idx="3"/>
          </p:cNvCxnSpPr>
          <p:nvPr/>
        </p:nvCxnSpPr>
        <p:spPr>
          <a:xfrm flipH="1">
            <a:off x="3069590" y="2148205"/>
            <a:ext cx="163195" cy="8255"/>
          </a:xfrm>
          <a:prstGeom prst="straightConnector1">
            <a:avLst/>
          </a:prstGeom>
          <a:ln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圆角矩形 71"/>
          <p:cNvSpPr/>
          <p:nvPr/>
        </p:nvSpPr>
        <p:spPr>
          <a:xfrm>
            <a:off x="0" y="0"/>
            <a:ext cx="3775075" cy="310515"/>
          </a:xfrm>
          <a:prstGeom prst="roundRect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ym typeface="+mn-ea"/>
              </a:rPr>
              <a:t>基于</a:t>
            </a:r>
            <a:r>
              <a:rPr lang="en-US" altLang="zh-CN" sz="1400">
                <a:sym typeface="+mn-ea"/>
              </a:rPr>
              <a:t>Nvidia</a:t>
            </a:r>
            <a:r>
              <a:rPr lang="zh-CN" altLang="en-US" sz="1400">
                <a:sym typeface="+mn-ea"/>
              </a:rPr>
              <a:t>平台的自研大模型算子库</a:t>
            </a:r>
            <a:r>
              <a:rPr lang="en-US" altLang="zh-CN" sz="1400">
                <a:sym typeface="+mn-ea"/>
              </a:rPr>
              <a:t>XOP</a:t>
            </a:r>
            <a:endParaRPr lang="en-US" altLang="zh-CN" sz="1400"/>
          </a:p>
        </p:txBody>
      </p:sp>
      <p:sp>
        <p:nvSpPr>
          <p:cNvPr id="3" name="文本框 2"/>
          <p:cNvSpPr txBox="1"/>
          <p:nvPr/>
        </p:nvSpPr>
        <p:spPr>
          <a:xfrm>
            <a:off x="4707255" y="178435"/>
            <a:ext cx="13550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模块关系</a:t>
            </a:r>
            <a:r>
              <a:rPr lang="zh-CN" altLang="en-US"/>
              <a:t>图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" name="圆角矩形 71"/>
          <p:cNvSpPr/>
          <p:nvPr/>
        </p:nvSpPr>
        <p:spPr>
          <a:xfrm>
            <a:off x="0" y="0"/>
            <a:ext cx="3775075" cy="310515"/>
          </a:xfrm>
          <a:prstGeom prst="roundRect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ym typeface="+mn-ea"/>
              </a:rPr>
              <a:t>基于</a:t>
            </a:r>
            <a:r>
              <a:rPr lang="en-US" altLang="zh-CN" sz="1400">
                <a:sym typeface="+mn-ea"/>
              </a:rPr>
              <a:t>Nvidia</a:t>
            </a:r>
            <a:r>
              <a:rPr lang="zh-CN" altLang="en-US" sz="1400">
                <a:sym typeface="+mn-ea"/>
              </a:rPr>
              <a:t>平台的自研大模型算子库</a:t>
            </a:r>
            <a:r>
              <a:rPr lang="en-US" altLang="zh-CN" sz="1400">
                <a:sym typeface="+mn-ea"/>
              </a:rPr>
              <a:t>XOP</a:t>
            </a:r>
            <a:endParaRPr lang="en-US" altLang="zh-CN" sz="1400"/>
          </a:p>
        </p:txBody>
      </p:sp>
      <p:sp>
        <p:nvSpPr>
          <p:cNvPr id="115" name="文本框 114"/>
          <p:cNvSpPr txBox="1"/>
          <p:nvPr/>
        </p:nvSpPr>
        <p:spPr>
          <a:xfrm>
            <a:off x="250190" y="528955"/>
            <a:ext cx="11627485" cy="6074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sym typeface="+mn-ea"/>
              </a:rPr>
              <a:t>算子库定位：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）特定硬件优化与性能压榨</a:t>
            </a:r>
            <a:r>
              <a:rPr lang="zh-CN" sz="1600">
                <a:sym typeface="+mn-ea"/>
              </a:rPr>
              <a:t>，</a:t>
            </a:r>
            <a:r>
              <a:rPr lang="zh-CN" altLang="en-US" sz="1600">
                <a:sym typeface="+mn-ea"/>
              </a:rPr>
              <a:t>与开源社区代码的通用性形成互补。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                          2</a:t>
            </a:r>
            <a:r>
              <a:rPr lang="zh-CN" altLang="en-US" sz="1600">
                <a:sym typeface="+mn-ea"/>
              </a:rPr>
              <a:t>）处理长尾与非高频场景，弥补开源社区对小众需求支持的滞后性。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zh-CN" altLang="en-US" sz="1600" b="1">
                <a:sym typeface="+mn-ea"/>
              </a:rPr>
              <a:t>截止至</a:t>
            </a:r>
            <a:r>
              <a:rPr lang="en-US" altLang="zh-CN" sz="1600" b="1">
                <a:sym typeface="+mn-ea"/>
              </a:rPr>
              <a:t>25</a:t>
            </a:r>
            <a:r>
              <a:rPr lang="zh-CN" altLang="en-US" sz="1600" b="1">
                <a:sym typeface="+mn-ea"/>
              </a:rPr>
              <a:t>年底的情况：</a:t>
            </a:r>
            <a:r>
              <a:rPr lang="zh-CN" altLang="en-US" sz="1600">
                <a:sym typeface="+mn-ea"/>
              </a:rPr>
              <a:t>针对</a:t>
            </a:r>
            <a:r>
              <a:rPr lang="en-US" altLang="zh-CN" sz="1600">
                <a:sym typeface="+mn-ea"/>
              </a:rPr>
              <a:t>L40</a:t>
            </a:r>
            <a:r>
              <a:rPr lang="zh-CN" altLang="en-US" sz="1600">
                <a:sym typeface="+mn-ea"/>
              </a:rPr>
              <a:t>和</a:t>
            </a:r>
            <a:r>
              <a:rPr lang="en-US" altLang="zh-CN" sz="1600">
                <a:sym typeface="+mn-ea"/>
              </a:rPr>
              <a:t>H20</a:t>
            </a:r>
            <a:r>
              <a:rPr lang="zh-CN" altLang="en-US" sz="1600">
                <a:sym typeface="+mn-ea"/>
              </a:rPr>
              <a:t>，实现了各种类型的</a:t>
            </a:r>
            <a:r>
              <a:rPr lang="en-US" altLang="zh-CN" sz="1600">
                <a:sym typeface="+mn-ea"/>
              </a:rPr>
              <a:t>gemm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 </a:t>
            </a:r>
            <a:r>
              <a:rPr lang="en-US" altLang="zh-CN" sz="1600">
                <a:sym typeface="+mn-ea"/>
              </a:rPr>
              <a:t>                                            1. </a:t>
            </a:r>
            <a:r>
              <a:rPr lang="zh-CN" altLang="en-US" sz="1600">
                <a:sym typeface="+mn-ea"/>
              </a:rPr>
              <a:t>在单卡高并发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以及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单卡低并发量化场景下，</a:t>
            </a:r>
            <a:r>
              <a:rPr lang="zh-CN" altLang="en-US" sz="1600">
                <a:sym typeface="+mn-ea"/>
              </a:rPr>
              <a:t>平均优于开源实现</a:t>
            </a:r>
            <a:r>
              <a:rPr lang="en-US" altLang="zh-CN" sz="1600">
                <a:sym typeface="+mn-ea"/>
              </a:rPr>
              <a:t>10%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                                           2. </a:t>
            </a:r>
            <a:r>
              <a:rPr lang="zh-CN" altLang="en-US" sz="1600">
                <a:sym typeface="+mn-ea"/>
              </a:rPr>
              <a:t>在单机多卡高并发场景，实现计算融合通信，可达到</a:t>
            </a:r>
            <a:r>
              <a:rPr lang="en-US" altLang="zh-CN" sz="1600">
                <a:sym typeface="+mn-ea"/>
              </a:rPr>
              <a:t>5%~30%</a:t>
            </a:r>
            <a:r>
              <a:rPr lang="zh-CN" altLang="en-US" sz="1600">
                <a:sym typeface="+mn-ea"/>
              </a:rPr>
              <a:t>的提速。</a:t>
            </a:r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                                           3. </a:t>
            </a:r>
            <a:r>
              <a:rPr lang="zh-CN" altLang="en-US" sz="1600">
                <a:sym typeface="+mn-ea"/>
              </a:rPr>
              <a:t>补充了当时无开源版本的实现，如</a:t>
            </a:r>
            <a:r>
              <a:rPr lang="en-US" altLang="zh-CN" sz="1600">
                <a:sym typeface="+mn-ea"/>
              </a:rPr>
              <a:t>L40</a:t>
            </a:r>
            <a:r>
              <a:rPr lang="zh-CN" altLang="en-US" sz="1600">
                <a:sym typeface="+mn-ea"/>
              </a:rPr>
              <a:t>上的</a:t>
            </a:r>
            <a:r>
              <a:rPr lang="en-US" altLang="zh-CN" sz="1600">
                <a:sym typeface="+mn-ea"/>
              </a:rPr>
              <a:t>blockscale fp8 gemm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endParaRPr lang="en-US" sz="1600">
              <a:sym typeface="+mn-ea"/>
            </a:endParaRPr>
          </a:p>
          <a:p>
            <a:r>
              <a:rPr lang="en-US" sz="1600" b="1">
                <a:sym typeface="+mn-ea"/>
              </a:rPr>
              <a:t>26</a:t>
            </a:r>
            <a:r>
              <a:rPr lang="zh-CN" altLang="en-US" sz="1600" b="1">
                <a:sym typeface="+mn-ea"/>
              </a:rPr>
              <a:t>年</a:t>
            </a:r>
            <a:r>
              <a:rPr lang="zh-CN" altLang="en-US" sz="1600" b="1">
                <a:sym typeface="+mn-ea"/>
              </a:rPr>
              <a:t>上半年重点：</a:t>
            </a:r>
            <a:r>
              <a:rPr lang="zh-CN" altLang="en-US" sz="1600">
                <a:sym typeface="+mn-ea"/>
              </a:rPr>
              <a:t>针对低并发非量化场景，提供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层面上的</a:t>
            </a:r>
            <a:r>
              <a:rPr lang="zh-CN" altLang="en-US" sz="1600">
                <a:sym typeface="+mn-ea"/>
              </a:rPr>
              <a:t>加速。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zh-CN" altLang="en-US" sz="1600" b="1">
                <a:sym typeface="+mn-ea"/>
              </a:rPr>
              <a:t>方案：</a:t>
            </a:r>
            <a:r>
              <a:rPr lang="en-US" altLang="zh-CN" sz="1600">
                <a:sym typeface="+mn-ea"/>
              </a:rPr>
              <a:t>AI</a:t>
            </a:r>
            <a:r>
              <a:rPr lang="zh-CN" altLang="en-US" sz="1600">
                <a:sym typeface="+mn-ea"/>
              </a:rPr>
              <a:t>编译与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融合</a:t>
            </a:r>
            <a:endParaRPr lang="zh-CN" altLang="en-US" sz="1600">
              <a:sym typeface="+mn-ea"/>
            </a:endParaRPr>
          </a:p>
          <a:p>
            <a:r>
              <a:rPr lang="zh-CN" altLang="en-US" sz="1600" b="1">
                <a:sym typeface="+mn-ea"/>
              </a:rPr>
              <a:t>原因：</a:t>
            </a:r>
            <a:r>
              <a:rPr lang="zh-CN" altLang="en-US" sz="1600">
                <a:sym typeface="+mn-ea"/>
              </a:rPr>
              <a:t>在低并发下，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计算耗时短，推理耗时瓶颈在于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启动开销</a:t>
            </a:r>
            <a:r>
              <a:rPr lang="en-US" altLang="zh-CN" sz="1600">
                <a:sym typeface="+mn-ea"/>
              </a:rPr>
              <a:t> / </a:t>
            </a:r>
            <a:r>
              <a:rPr lang="zh-CN" altLang="en-US" sz="1600">
                <a:sym typeface="+mn-ea"/>
              </a:rPr>
              <a:t>流水线气泡以及粗粒度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同步等。</a:t>
            </a:r>
            <a:r>
              <a:rPr lang="en-US" altLang="zh-CN" sz="1600">
                <a:sym typeface="+mn-ea"/>
              </a:rPr>
              <a:t>    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           </a:t>
            </a:r>
            <a:r>
              <a:rPr lang="zh-CN" altLang="en-US" sz="1600">
                <a:sym typeface="+mn-ea"/>
              </a:rPr>
              <a:t>如仅优化单一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，因为计算更简单，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内打满带宽的难度更低，缺少定制化加速的空间，导致追平</a:t>
            </a:r>
            <a:r>
              <a:rPr lang="en-US" altLang="zh-CN" sz="1600">
                <a:sym typeface="+mn-ea"/>
              </a:rPr>
              <a:t>cublas</a:t>
            </a:r>
            <a:r>
              <a:rPr lang="zh-CN" altLang="en-US" sz="1600">
                <a:sym typeface="+mn-ea"/>
              </a:rPr>
              <a:t>已成极限，所以优化重点放在非计算部分的固定开销上。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zh-CN" altLang="en-US" sz="1600" b="1">
                <a:sym typeface="+mn-ea"/>
              </a:rPr>
              <a:t>做法：</a:t>
            </a:r>
            <a:r>
              <a:rPr lang="zh-CN" altLang="en-US" sz="1600">
                <a:sym typeface="+mn-ea"/>
              </a:rPr>
              <a:t>以</a:t>
            </a:r>
            <a:r>
              <a:rPr lang="en-US" altLang="zh-CN" sz="1600">
                <a:sym typeface="+mn-ea"/>
              </a:rPr>
              <a:t>qwen3-4b</a:t>
            </a:r>
            <a:r>
              <a:rPr lang="zh-CN" altLang="en-US" sz="1600">
                <a:sym typeface="+mn-ea"/>
              </a:rPr>
              <a:t>模型推理为例，</a:t>
            </a:r>
            <a:r>
              <a:rPr lang="en-US" altLang="zh-CN" sz="1600">
                <a:sym typeface="+mn-ea"/>
              </a:rPr>
              <a:t>DecoderLayer</a:t>
            </a:r>
            <a:r>
              <a:rPr lang="zh-CN" altLang="en-US" sz="1600">
                <a:sym typeface="+mn-ea"/>
              </a:rPr>
              <a:t>有</a:t>
            </a:r>
            <a:r>
              <a:rPr lang="en-US" altLang="zh-CN" sz="1600">
                <a:sym typeface="+mn-ea"/>
              </a:rPr>
              <a:t>36</a:t>
            </a:r>
            <a:r>
              <a:rPr lang="zh-CN" altLang="en-US" sz="1600">
                <a:sym typeface="+mn-ea"/>
              </a:rPr>
              <a:t>层，每层有</a:t>
            </a:r>
            <a:r>
              <a:rPr lang="en-US" altLang="zh-CN" sz="1600">
                <a:sym typeface="+mn-ea"/>
              </a:rPr>
              <a:t>10+</a:t>
            </a:r>
            <a:r>
              <a:rPr lang="zh-CN" altLang="en-US" sz="1600">
                <a:sym typeface="+mn-ea"/>
              </a:rPr>
              <a:t>个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顺序执行，即一次推理需要执行</a:t>
            </a:r>
            <a:r>
              <a:rPr lang="en-US" altLang="zh-CN" sz="1600">
                <a:sym typeface="+mn-ea"/>
              </a:rPr>
              <a:t>300+</a:t>
            </a:r>
            <a:r>
              <a:rPr lang="zh-CN" altLang="en-US" sz="1600">
                <a:sym typeface="+mn-ea"/>
              </a:rPr>
              <a:t>个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 </a:t>
            </a:r>
            <a:r>
              <a:rPr lang="en-US" altLang="zh-CN" sz="1600">
                <a:sym typeface="+mn-ea"/>
              </a:rPr>
              <a:t>            1</a:t>
            </a:r>
            <a:r>
              <a:rPr lang="zh-CN" altLang="en-US" sz="1600">
                <a:sym typeface="+mn-ea"/>
              </a:rPr>
              <a:t>）基于编译器将这</a:t>
            </a:r>
            <a:r>
              <a:rPr lang="en-US" altLang="zh-CN" sz="1600">
                <a:sym typeface="+mn-ea"/>
              </a:rPr>
              <a:t>300+</a:t>
            </a:r>
            <a:r>
              <a:rPr lang="zh-CN" altLang="en-US" sz="1600">
                <a:sym typeface="+mn-ea"/>
              </a:rPr>
              <a:t>个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全部转化为对当前硬件最优的</a:t>
            </a:r>
            <a:r>
              <a:rPr lang="en-US" altLang="zh-CN" sz="1600">
                <a:sym typeface="+mn-ea"/>
              </a:rPr>
              <a:t>tile</a:t>
            </a:r>
            <a:r>
              <a:rPr lang="zh-CN" altLang="en-US" sz="1600">
                <a:sym typeface="+mn-ea"/>
              </a:rPr>
              <a:t>层级</a:t>
            </a:r>
            <a:r>
              <a:rPr lang="en-US" altLang="zh-CN" sz="1600">
                <a:sym typeface="+mn-ea"/>
              </a:rPr>
              <a:t>micro kernel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 </a:t>
            </a:r>
            <a:r>
              <a:rPr lang="en-US" altLang="zh-CN" sz="1600">
                <a:sym typeface="+mn-ea"/>
              </a:rPr>
              <a:t>            2</a:t>
            </a:r>
            <a:r>
              <a:rPr lang="zh-CN" altLang="en-US" sz="1600">
                <a:sym typeface="+mn-ea"/>
              </a:rPr>
              <a:t>）基于编译器以</a:t>
            </a:r>
            <a:r>
              <a:rPr lang="en-US" altLang="zh-CN" sz="1600">
                <a:sym typeface="+mn-ea"/>
              </a:rPr>
              <a:t>micro kernel</a:t>
            </a:r>
            <a:r>
              <a:rPr lang="zh-CN" altLang="en-US" sz="1600">
                <a:sym typeface="+mn-ea"/>
              </a:rPr>
              <a:t>为基本计算单元，检索出最优组图方案，对</a:t>
            </a:r>
            <a:r>
              <a:rPr lang="en-US" altLang="zh-CN" sz="1600">
                <a:sym typeface="+mn-ea"/>
              </a:rPr>
              <a:t>micro kernel</a:t>
            </a:r>
            <a:r>
              <a:rPr lang="zh-CN" altLang="en-US" sz="1600">
                <a:sym typeface="+mn-ea"/>
              </a:rPr>
              <a:t>构建计算图。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 </a:t>
            </a:r>
            <a:r>
              <a:rPr lang="en-US" altLang="zh-CN" sz="1600">
                <a:sym typeface="+mn-ea"/>
              </a:rPr>
              <a:t>            3</a:t>
            </a:r>
            <a:r>
              <a:rPr lang="zh-CN" altLang="en-US" sz="1600">
                <a:sym typeface="+mn-ea"/>
              </a:rPr>
              <a:t>）根据预估的</a:t>
            </a:r>
            <a:r>
              <a:rPr lang="en-US" altLang="zh-CN" sz="1600">
                <a:sym typeface="+mn-ea"/>
              </a:rPr>
              <a:t>sm</a:t>
            </a:r>
            <a:r>
              <a:rPr lang="zh-CN" altLang="en-US" sz="1600">
                <a:sym typeface="+mn-ea"/>
              </a:rPr>
              <a:t>调度情况，在空闲</a:t>
            </a:r>
            <a:r>
              <a:rPr lang="en-US" altLang="zh-CN" sz="1600">
                <a:sym typeface="+mn-ea"/>
              </a:rPr>
              <a:t>sm</a:t>
            </a:r>
            <a:r>
              <a:rPr lang="zh-CN" altLang="en-US" sz="1600">
                <a:sym typeface="+mn-ea"/>
              </a:rPr>
              <a:t>中插入</a:t>
            </a:r>
            <a:r>
              <a:rPr lang="en-US" altLang="zh-CN" sz="1600">
                <a:sym typeface="+mn-ea"/>
              </a:rPr>
              <a:t>pipeline</a:t>
            </a:r>
            <a:r>
              <a:rPr lang="zh-CN" altLang="en-US" sz="1600">
                <a:sym typeface="+mn-ea"/>
              </a:rPr>
              <a:t>调度逻辑，在</a:t>
            </a:r>
            <a:r>
              <a:rPr lang="en-US" altLang="zh-CN" sz="1600">
                <a:sym typeface="+mn-ea"/>
              </a:rPr>
              <a:t>GPU kernel</a:t>
            </a:r>
            <a:r>
              <a:rPr lang="zh-CN" altLang="en-US" sz="1600">
                <a:sym typeface="+mn-ea"/>
              </a:rPr>
              <a:t>内部完成原推理流程中的</a:t>
            </a:r>
            <a:r>
              <a:rPr lang="en-US" altLang="zh-CN" sz="1600">
                <a:sym typeface="+mn-ea"/>
              </a:rPr>
              <a:t>CPU</a:t>
            </a:r>
            <a:r>
              <a:rPr lang="zh-CN" altLang="en-US" sz="1600">
                <a:sym typeface="+mn-ea"/>
              </a:rPr>
              <a:t>操作。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 </a:t>
            </a:r>
            <a:r>
              <a:rPr lang="en-US" altLang="zh-CN" sz="1600">
                <a:sym typeface="+mn-ea"/>
              </a:rPr>
              <a:t>            4</a:t>
            </a:r>
            <a:r>
              <a:rPr lang="zh-CN" altLang="en-US" sz="1600">
                <a:sym typeface="+mn-ea"/>
              </a:rPr>
              <a:t>）打包生成</a:t>
            </a:r>
            <a:r>
              <a:rPr lang="en-US" altLang="zh-CN" sz="1600">
                <a:sym typeface="+mn-ea"/>
              </a:rPr>
              <a:t>megakernel</a:t>
            </a:r>
            <a:r>
              <a:rPr lang="zh-CN" altLang="en-US" sz="1600">
                <a:sym typeface="+mn-ea"/>
              </a:rPr>
              <a:t>，使一次</a:t>
            </a:r>
            <a:r>
              <a:rPr lang="en-US" altLang="zh-CN" sz="1600">
                <a:sym typeface="+mn-ea"/>
              </a:rPr>
              <a:t>kernel launch</a:t>
            </a:r>
            <a:r>
              <a:rPr lang="zh-CN" altLang="en-US" sz="1600">
                <a:sym typeface="+mn-ea"/>
              </a:rPr>
              <a:t>即可完成整个模型的推理，从根源上减少固定开销。</a:t>
            </a:r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</a:t>
            </a:r>
            <a:endParaRPr lang="zh-CN" altLang="en-US" sz="1600">
              <a:sym typeface="+mn-ea"/>
            </a:endParaRPr>
          </a:p>
          <a:p>
            <a:r>
              <a:rPr lang="zh-CN" altLang="en-US" sz="1600" b="1">
                <a:sym typeface="+mn-ea"/>
              </a:rPr>
              <a:t>加速原理：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）消除多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的启动开销；</a:t>
            </a:r>
            <a:r>
              <a:rPr lang="en-US" altLang="zh-CN" sz="1600">
                <a:sym typeface="+mn-ea"/>
              </a:rPr>
              <a:t>                             2</a:t>
            </a:r>
            <a:r>
              <a:rPr lang="zh-CN" altLang="en-US" sz="1600">
                <a:sym typeface="+mn-ea"/>
              </a:rPr>
              <a:t>）转粗粒度依赖为细粒度任务调度；</a:t>
            </a:r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                    3</a:t>
            </a:r>
            <a:r>
              <a:rPr lang="zh-CN" altLang="en-US" sz="1600">
                <a:sym typeface="+mn-ea"/>
              </a:rPr>
              <a:t>）消除</a:t>
            </a:r>
            <a:r>
              <a:rPr lang="en-US" altLang="zh-CN" sz="1600">
                <a:sym typeface="+mn-ea"/>
              </a:rPr>
              <a:t>CPU-GPU</a:t>
            </a:r>
            <a:r>
              <a:rPr lang="zh-CN" altLang="en-US" sz="1600">
                <a:sym typeface="+mn-ea"/>
              </a:rPr>
              <a:t>交互导致的流水线气泡；</a:t>
            </a:r>
            <a:r>
              <a:rPr lang="en-US" altLang="zh-CN" sz="1600">
                <a:sym typeface="+mn-ea"/>
              </a:rPr>
              <a:t>      4</a:t>
            </a:r>
            <a:r>
              <a:rPr lang="zh-CN" altLang="en-US" sz="1600">
                <a:sym typeface="+mn-ea"/>
              </a:rPr>
              <a:t>）全局</a:t>
            </a:r>
            <a:r>
              <a:rPr lang="en-US" altLang="zh-CN" sz="1600">
                <a:sym typeface="+mn-ea"/>
              </a:rPr>
              <a:t>sm</a:t>
            </a:r>
            <a:r>
              <a:rPr lang="zh-CN" altLang="en-US" sz="1600">
                <a:sym typeface="+mn-ea"/>
              </a:rPr>
              <a:t>负载均衡，缓解尾效应；</a:t>
            </a:r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                    5</a:t>
            </a:r>
            <a:r>
              <a:rPr lang="zh-CN" altLang="en-US" sz="1600">
                <a:sym typeface="+mn-ea"/>
              </a:rPr>
              <a:t>）共享内存代替全局内存衔接多个</a:t>
            </a:r>
            <a:r>
              <a:rPr lang="en-US" altLang="zh-CN" sz="1600">
                <a:sym typeface="+mn-ea"/>
              </a:rPr>
              <a:t>kernel</a:t>
            </a:r>
            <a:r>
              <a:rPr lang="zh-CN" altLang="en-US" sz="1600">
                <a:sym typeface="+mn-ea"/>
              </a:rPr>
              <a:t>；</a:t>
            </a:r>
            <a:r>
              <a:rPr lang="en-US" altLang="zh-CN" sz="1600">
                <a:sym typeface="+mn-ea"/>
              </a:rPr>
              <a:t>   6</a:t>
            </a:r>
            <a:r>
              <a:rPr lang="zh-CN" altLang="en-US" sz="1600">
                <a:sym typeface="+mn-ea"/>
              </a:rPr>
              <a:t>）利用闲置</a:t>
            </a:r>
            <a:r>
              <a:rPr lang="en-US" altLang="zh-CN" sz="1600">
                <a:sym typeface="+mn-ea"/>
              </a:rPr>
              <a:t>sm</a:t>
            </a:r>
            <a:r>
              <a:rPr lang="zh-CN" altLang="en-US" sz="1600">
                <a:sym typeface="+mn-ea"/>
              </a:rPr>
              <a:t>代替</a:t>
            </a:r>
            <a:r>
              <a:rPr lang="en-US" altLang="zh-CN" sz="1600">
                <a:sym typeface="+mn-ea"/>
              </a:rPr>
              <a:t>cpu</a:t>
            </a:r>
            <a:r>
              <a:rPr lang="zh-CN" altLang="en-US" sz="1600">
                <a:sym typeface="+mn-ea"/>
              </a:rPr>
              <a:t>调度；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5650" y="394335"/>
            <a:ext cx="83794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/>
              <a:t>TTFL / ITL / E2E </a:t>
            </a:r>
            <a:r>
              <a:rPr lang="zh-CN" altLang="en-US" sz="1200"/>
              <a:t>均取</a:t>
            </a:r>
            <a:r>
              <a:rPr lang="en-US" altLang="zh-CN" sz="1200"/>
              <a:t>Mean;  </a:t>
            </a:r>
            <a:r>
              <a:rPr lang="zh-CN" altLang="en-US" sz="1200"/>
              <a:t>所有实验都基于</a:t>
            </a:r>
            <a:r>
              <a:rPr lang="en-US" altLang="zh-CN" sz="1200"/>
              <a:t>cuda graph</a:t>
            </a:r>
            <a:r>
              <a:rPr lang="zh-CN" altLang="en-US" sz="1200"/>
              <a:t>进行。</a:t>
            </a:r>
            <a:endParaRPr lang="zh-CN" altLang="en-US" sz="1200"/>
          </a:p>
          <a:p>
            <a:r>
              <a:rPr lang="en-US" altLang="zh-CN" sz="1200"/>
              <a:t>Xop</a:t>
            </a:r>
            <a:r>
              <a:rPr lang="zh-CN" altLang="en-US" sz="1200"/>
              <a:t>仅替换</a:t>
            </a:r>
            <a:r>
              <a:rPr lang="en-US" altLang="zh-CN" sz="1200"/>
              <a:t>qwen3_4b </a:t>
            </a:r>
            <a:r>
              <a:rPr lang="zh-CN" altLang="en-US" sz="1200"/>
              <a:t>的</a:t>
            </a:r>
            <a:r>
              <a:rPr lang="en-US" altLang="zh-CN" sz="1200"/>
              <a:t>4</a:t>
            </a:r>
            <a:r>
              <a:rPr lang="zh-CN" altLang="en-US" sz="1200"/>
              <a:t>个</a:t>
            </a:r>
            <a:r>
              <a:rPr lang="en-US" altLang="zh-CN" sz="1200"/>
              <a:t>gemm</a:t>
            </a:r>
            <a:r>
              <a:rPr lang="zh-CN" altLang="en-US" sz="1200"/>
              <a:t>：</a:t>
            </a:r>
            <a:r>
              <a:rPr lang="en-US" altLang="zh-CN" sz="1200"/>
              <a:t> (2560,9728), (6144,2560), (2560,4096), (19456,2560) </a:t>
            </a:r>
            <a:endParaRPr lang="en-US" altLang="zh-CN" sz="1200"/>
          </a:p>
          <a:p>
            <a:r>
              <a:rPr lang="zh-CN" altLang="en-US" sz="1200"/>
              <a:t>当</a:t>
            </a:r>
            <a:r>
              <a:rPr lang="en-US" altLang="zh-CN" sz="1200"/>
              <a:t>m</a:t>
            </a:r>
            <a:r>
              <a:rPr lang="zh-CN" altLang="en-US" sz="1200"/>
              <a:t>小时，</a:t>
            </a:r>
            <a:r>
              <a:rPr lang="en-US" altLang="zh-CN" sz="1200"/>
              <a:t>mode 1</a:t>
            </a:r>
            <a:r>
              <a:rPr lang="zh-CN" altLang="en-US" sz="1200"/>
              <a:t>与</a:t>
            </a:r>
            <a:r>
              <a:rPr lang="en-US" altLang="zh-CN" sz="1200"/>
              <a:t>torch.compile</a:t>
            </a:r>
            <a:r>
              <a:rPr lang="zh-CN" altLang="en-US" sz="1200"/>
              <a:t>有冲突，无法使用</a:t>
            </a:r>
            <a:r>
              <a:rPr lang="en-US" altLang="zh-CN" sz="1200"/>
              <a:t>. </a:t>
            </a:r>
            <a:r>
              <a:rPr lang="zh-CN" altLang="en-US" sz="1200"/>
              <a:t>不使用</a:t>
            </a:r>
            <a:r>
              <a:rPr lang="en-US" altLang="zh-CN" sz="1200"/>
              <a:t>compile</a:t>
            </a:r>
            <a:r>
              <a:rPr lang="zh-CN" altLang="en-US" sz="1200"/>
              <a:t>则任意</a:t>
            </a:r>
            <a:r>
              <a:rPr lang="en-US" altLang="zh-CN" sz="1200"/>
              <a:t>shape</a:t>
            </a:r>
            <a:r>
              <a:rPr lang="zh-CN" altLang="en-US" sz="1200"/>
              <a:t>都可以</a:t>
            </a:r>
            <a:endParaRPr lang="zh-CN" altLang="en-US" sz="1200"/>
          </a:p>
          <a:p>
            <a:r>
              <a:rPr lang="en-US" altLang="zh-CN" sz="1200"/>
              <a:t>Normal &gt;=128, q8 &gt;= 2048, q4 &lt;= 32</a:t>
            </a:r>
            <a:endParaRPr lang="en-US" altLang="zh-CN" sz="1200"/>
          </a:p>
        </p:txBody>
      </p:sp>
      <p:sp>
        <p:nvSpPr>
          <p:cNvPr id="5" name="文本框 4"/>
          <p:cNvSpPr txBox="1"/>
          <p:nvPr/>
        </p:nvSpPr>
        <p:spPr>
          <a:xfrm>
            <a:off x="502920" y="5389245"/>
            <a:ext cx="10906125" cy="1488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 sz="1200"/>
          </a:p>
          <a:p>
            <a:r>
              <a:rPr lang="zh-CN" altLang="en-US" sz="1200">
                <a:sym typeface="+mn-ea"/>
              </a:rPr>
              <a:t>总结：</a:t>
            </a:r>
            <a:r>
              <a:rPr lang="en-US" altLang="zh-CN" sz="1200">
                <a:sym typeface="+mn-ea"/>
              </a:rPr>
              <a:t>1</a:t>
            </a:r>
            <a:r>
              <a:rPr lang="zh-CN" altLang="en-US" sz="1200">
                <a:sym typeface="+mn-ea"/>
              </a:rPr>
              <a:t>）</a:t>
            </a:r>
            <a:r>
              <a:rPr lang="en-US" altLang="zh-CN" sz="1200">
                <a:sym typeface="+mn-ea"/>
              </a:rPr>
              <a:t>xop</a:t>
            </a:r>
            <a:r>
              <a:rPr lang="zh-CN" altLang="en-US" sz="1200">
                <a:sym typeface="+mn-ea"/>
              </a:rPr>
              <a:t>无损模式下，因目前不支持算子融合，所以在</a:t>
            </a:r>
            <a:r>
              <a:rPr lang="en-US" altLang="zh-CN" sz="1200">
                <a:sym typeface="+mn-ea"/>
              </a:rPr>
              <a:t>m</a:t>
            </a:r>
            <a:r>
              <a:rPr lang="zh-CN" altLang="en-US" sz="1200">
                <a:sym typeface="+mn-ea"/>
              </a:rPr>
              <a:t>小的输入不做处理，留给</a:t>
            </a:r>
            <a:r>
              <a:rPr lang="en-US" altLang="zh-CN" sz="1200">
                <a:sym typeface="+mn-ea"/>
              </a:rPr>
              <a:t>torch.compile</a:t>
            </a:r>
            <a:r>
              <a:rPr lang="zh-CN" altLang="en-US" sz="1200">
                <a:sym typeface="+mn-ea"/>
              </a:rPr>
              <a:t>发挥，此时</a:t>
            </a:r>
            <a:r>
              <a:rPr lang="en-US" altLang="zh-CN" sz="1200">
                <a:sym typeface="+mn-ea"/>
              </a:rPr>
              <a:t>xop</a:t>
            </a:r>
            <a:r>
              <a:rPr lang="zh-CN" altLang="en-US" sz="1200">
                <a:sym typeface="+mn-ea"/>
              </a:rPr>
              <a:t>的发力点在</a:t>
            </a:r>
            <a:r>
              <a:rPr lang="en-US" altLang="zh-CN" sz="1200">
                <a:sym typeface="+mn-ea"/>
              </a:rPr>
              <a:t>m</a:t>
            </a:r>
            <a:r>
              <a:rPr lang="zh-CN" altLang="en-US" sz="1200">
                <a:sym typeface="+mn-ea"/>
              </a:rPr>
              <a:t>较大的场景。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            </a:t>
            </a:r>
            <a:r>
              <a:rPr lang="zh-CN" altLang="en-US" sz="1200">
                <a:sym typeface="+mn-ea"/>
              </a:rPr>
              <a:t>所以</a:t>
            </a:r>
            <a:r>
              <a:rPr lang="en-US" altLang="zh-CN" sz="1200">
                <a:sym typeface="+mn-ea"/>
              </a:rPr>
              <a:t>5</a:t>
            </a:r>
            <a:r>
              <a:rPr lang="zh-CN" altLang="en-US" sz="1200">
                <a:sym typeface="+mn-ea"/>
              </a:rPr>
              <a:t>并发下，</a:t>
            </a:r>
            <a:r>
              <a:rPr lang="en-US" altLang="zh-CN" sz="1200">
                <a:sym typeface="+mn-ea"/>
              </a:rPr>
              <a:t>xop</a:t>
            </a:r>
            <a:r>
              <a:rPr lang="zh-CN" altLang="en-US" sz="1200">
                <a:sym typeface="+mn-ea"/>
              </a:rPr>
              <a:t>无损接入能使</a:t>
            </a:r>
            <a:r>
              <a:rPr lang="en-US" altLang="zh-CN" sz="1200">
                <a:sym typeface="+mn-ea"/>
              </a:rPr>
              <a:t>TTFT</a:t>
            </a:r>
            <a:r>
              <a:rPr lang="zh-CN" altLang="en-US" sz="1200">
                <a:sym typeface="+mn-ea"/>
              </a:rPr>
              <a:t>明显降低，而</a:t>
            </a:r>
            <a:r>
              <a:rPr lang="en-US" altLang="zh-CN" sz="1200">
                <a:sym typeface="+mn-ea"/>
              </a:rPr>
              <a:t>torch.compile</a:t>
            </a:r>
            <a:r>
              <a:rPr lang="zh-CN" altLang="en-US" sz="1200">
                <a:sym typeface="+mn-ea"/>
              </a:rPr>
              <a:t>则主要对</a:t>
            </a:r>
            <a:r>
              <a:rPr lang="en-US" altLang="zh-CN" sz="1200">
                <a:sym typeface="+mn-ea"/>
              </a:rPr>
              <a:t>ITL</a:t>
            </a:r>
            <a:r>
              <a:rPr lang="zh-CN" altLang="en-US" sz="1200">
                <a:sym typeface="+mn-ea"/>
              </a:rPr>
              <a:t>有改善。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            </a:t>
            </a:r>
            <a:r>
              <a:rPr lang="zh-CN" altLang="en-US" sz="1200">
                <a:sym typeface="+mn-ea"/>
              </a:rPr>
              <a:t>随并发数增大，</a:t>
            </a:r>
            <a:r>
              <a:rPr lang="en-US" altLang="zh-CN" sz="1200">
                <a:sym typeface="+mn-ea"/>
              </a:rPr>
              <a:t>xop</a:t>
            </a:r>
            <a:r>
              <a:rPr lang="zh-CN" altLang="en-US" sz="1200">
                <a:sym typeface="+mn-ea"/>
              </a:rPr>
              <a:t>的</a:t>
            </a:r>
            <a:r>
              <a:rPr lang="en-US" altLang="zh-CN" sz="1200">
                <a:sym typeface="+mn-ea"/>
              </a:rPr>
              <a:t>kernel</a:t>
            </a:r>
            <a:r>
              <a:rPr lang="zh-CN" altLang="en-US" sz="1200">
                <a:sym typeface="+mn-ea"/>
              </a:rPr>
              <a:t>被派发的概率增大，接入的端到端收益就会逐渐增大，</a:t>
            </a:r>
            <a:r>
              <a:rPr lang="en-US" altLang="zh-CN" sz="1200">
                <a:sym typeface="+mn-ea"/>
              </a:rPr>
              <a:t>5</a:t>
            </a:r>
            <a:r>
              <a:rPr lang="zh-CN" altLang="en-US" sz="1200">
                <a:sym typeface="+mn-ea"/>
              </a:rPr>
              <a:t>并发时收益为</a:t>
            </a:r>
            <a:r>
              <a:rPr lang="en-US" altLang="zh-CN" sz="1200">
                <a:sym typeface="+mn-ea"/>
              </a:rPr>
              <a:t>1.6%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50</a:t>
            </a:r>
            <a:r>
              <a:rPr lang="zh-CN" altLang="en-US" sz="1200">
                <a:sym typeface="+mn-ea"/>
              </a:rPr>
              <a:t>时为</a:t>
            </a:r>
            <a:r>
              <a:rPr lang="en-US" altLang="zh-CN" sz="1200">
                <a:sym typeface="+mn-ea"/>
              </a:rPr>
              <a:t>6.3%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100</a:t>
            </a:r>
            <a:r>
              <a:rPr lang="zh-CN" altLang="en-US" sz="1200">
                <a:sym typeface="+mn-ea"/>
              </a:rPr>
              <a:t>时为</a:t>
            </a:r>
            <a:r>
              <a:rPr lang="en-US" altLang="zh-CN" sz="1200">
                <a:sym typeface="+mn-ea"/>
              </a:rPr>
              <a:t>8.4%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            </a:t>
            </a:r>
            <a:r>
              <a:rPr lang="zh-CN" altLang="en-US" sz="1200">
                <a:sym typeface="+mn-ea"/>
              </a:rPr>
              <a:t>（后续有精力考虑在编译器上做些工作去吃掉</a:t>
            </a:r>
            <a:r>
              <a:rPr lang="en-US" altLang="zh-CN" sz="1200">
                <a:sym typeface="+mn-ea"/>
              </a:rPr>
              <a:t>torch.compile</a:t>
            </a:r>
            <a:r>
              <a:rPr lang="zh-CN" altLang="en-US" sz="1200">
                <a:sym typeface="+mn-ea"/>
              </a:rPr>
              <a:t>发力的部分）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       2</a:t>
            </a:r>
            <a:r>
              <a:rPr lang="zh-CN" altLang="en-US" sz="1200">
                <a:sym typeface="+mn-ea"/>
              </a:rPr>
              <a:t>）</a:t>
            </a:r>
            <a:r>
              <a:rPr lang="en-US" altLang="zh-CN" sz="1200">
                <a:sym typeface="+mn-ea"/>
              </a:rPr>
              <a:t>xop</a:t>
            </a:r>
            <a:r>
              <a:rPr lang="zh-CN" altLang="en-US" sz="1200">
                <a:sym typeface="+mn-ea"/>
              </a:rPr>
              <a:t>动态量化</a:t>
            </a:r>
            <a:r>
              <a:rPr lang="en-US" altLang="zh-CN" sz="1200">
                <a:sym typeface="+mn-ea"/>
              </a:rPr>
              <a:t>q8</a:t>
            </a:r>
            <a:r>
              <a:rPr lang="zh-CN" altLang="en-US" sz="1200">
                <a:sym typeface="+mn-ea"/>
              </a:rPr>
              <a:t>关注点在大</a:t>
            </a:r>
            <a:r>
              <a:rPr lang="en-US" altLang="zh-CN" sz="1200">
                <a:sym typeface="+mn-ea"/>
              </a:rPr>
              <a:t>m</a:t>
            </a:r>
            <a:r>
              <a:rPr lang="zh-CN" altLang="en-US" sz="1200">
                <a:sym typeface="+mn-ea"/>
              </a:rPr>
              <a:t>场景，</a:t>
            </a:r>
            <a:r>
              <a:rPr lang="en-US" altLang="zh-CN" sz="1200">
                <a:sym typeface="+mn-ea"/>
              </a:rPr>
              <a:t>5</a:t>
            </a:r>
            <a:r>
              <a:rPr lang="zh-CN" altLang="en-US" sz="1200">
                <a:sym typeface="+mn-ea"/>
              </a:rPr>
              <a:t>并发下</a:t>
            </a:r>
            <a:r>
              <a:rPr lang="en-US" altLang="zh-CN" sz="1200">
                <a:sym typeface="+mn-ea"/>
              </a:rPr>
              <a:t>q8 kernel</a:t>
            </a:r>
            <a:r>
              <a:rPr lang="zh-CN" altLang="en-US" sz="1200">
                <a:sym typeface="+mn-ea"/>
              </a:rPr>
              <a:t>难以被派发，</a:t>
            </a:r>
            <a:r>
              <a:rPr lang="en-US" altLang="zh-CN" sz="1200">
                <a:sym typeface="+mn-ea"/>
              </a:rPr>
              <a:t>50</a:t>
            </a:r>
            <a:r>
              <a:rPr lang="zh-CN" altLang="en-US" sz="1200">
                <a:sym typeface="+mn-ea"/>
              </a:rPr>
              <a:t>并发下收益为</a:t>
            </a:r>
            <a:r>
              <a:rPr lang="en-US" altLang="zh-CN" sz="1200">
                <a:sym typeface="+mn-ea"/>
              </a:rPr>
              <a:t>8.8%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100</a:t>
            </a:r>
            <a:r>
              <a:rPr lang="zh-CN" altLang="en-US" sz="1200">
                <a:sym typeface="+mn-ea"/>
              </a:rPr>
              <a:t>时为</a:t>
            </a:r>
            <a:r>
              <a:rPr lang="en-US" altLang="zh-CN" sz="1200">
                <a:sym typeface="+mn-ea"/>
              </a:rPr>
              <a:t>12.6%</a:t>
            </a:r>
            <a:r>
              <a:rPr lang="zh-CN" altLang="en-US" sz="1200">
                <a:sym typeface="+mn-ea"/>
              </a:rPr>
              <a:t>。</a:t>
            </a:r>
            <a:r>
              <a:rPr lang="en-US" altLang="zh-CN" sz="1200">
                <a:sym typeface="+mn-ea"/>
              </a:rPr>
              <a:t>(q8</a:t>
            </a:r>
            <a:r>
              <a:rPr lang="zh-CN" altLang="en-US" sz="1200">
                <a:sym typeface="+mn-ea"/>
              </a:rPr>
              <a:t>的组合</a:t>
            </a:r>
            <a:r>
              <a:rPr lang="en-US" altLang="zh-CN" sz="1200">
                <a:sym typeface="+mn-ea"/>
              </a:rPr>
              <a:t>kernel</a:t>
            </a:r>
            <a:r>
              <a:rPr lang="zh-CN" altLang="en-US" sz="1200">
                <a:sym typeface="+mn-ea"/>
              </a:rPr>
              <a:t>还有一定优化空间</a:t>
            </a:r>
            <a:r>
              <a:rPr lang="en-US" altLang="zh-CN" sz="1200">
                <a:sym typeface="+mn-ea"/>
              </a:rPr>
              <a:t>)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     3</a:t>
            </a:r>
            <a:r>
              <a:rPr lang="zh-CN" altLang="en-US" sz="1200">
                <a:sym typeface="+mn-ea"/>
              </a:rPr>
              <a:t>）</a:t>
            </a:r>
            <a:r>
              <a:rPr lang="en-US" altLang="zh-CN" sz="1200">
                <a:sym typeface="+mn-ea"/>
              </a:rPr>
              <a:t>xop</a:t>
            </a:r>
            <a:r>
              <a:rPr lang="zh-CN" altLang="en-US" sz="1200">
                <a:sym typeface="+mn-ea"/>
              </a:rPr>
              <a:t>动态量化</a:t>
            </a:r>
            <a:r>
              <a:rPr lang="en-US" altLang="zh-CN" sz="1200">
                <a:sym typeface="+mn-ea"/>
              </a:rPr>
              <a:t>q4</a:t>
            </a:r>
            <a:r>
              <a:rPr lang="zh-CN" altLang="en-US" sz="1200">
                <a:sym typeface="+mn-ea"/>
              </a:rPr>
              <a:t>关注点在小</a:t>
            </a:r>
            <a:r>
              <a:rPr lang="en-US" altLang="zh-CN" sz="1200">
                <a:sym typeface="+mn-ea"/>
              </a:rPr>
              <a:t>m</a:t>
            </a:r>
            <a:r>
              <a:rPr lang="zh-CN" altLang="en-US" sz="1200">
                <a:sym typeface="+mn-ea"/>
              </a:rPr>
              <a:t>的场景，</a:t>
            </a:r>
            <a:r>
              <a:rPr lang="en-US" altLang="zh-CN" sz="1200">
                <a:sym typeface="+mn-ea"/>
              </a:rPr>
              <a:t>5</a:t>
            </a:r>
            <a:r>
              <a:rPr lang="zh-CN" altLang="en-US" sz="1200">
                <a:sym typeface="+mn-ea"/>
              </a:rPr>
              <a:t>并发下收益达</a:t>
            </a:r>
            <a:r>
              <a:rPr lang="en-US" altLang="zh-CN" sz="1200">
                <a:sym typeface="+mn-ea"/>
              </a:rPr>
              <a:t>49.1%</a:t>
            </a:r>
            <a:r>
              <a:rPr lang="zh-CN" altLang="en-US" sz="1200">
                <a:sym typeface="+mn-ea"/>
              </a:rPr>
              <a:t>，随并发数增大，优势逐渐减小。</a:t>
            </a:r>
            <a:r>
              <a:rPr lang="en-US" altLang="zh-CN" sz="1200">
                <a:sym typeface="+mn-ea"/>
              </a:rPr>
              <a:t>100</a:t>
            </a:r>
            <a:r>
              <a:rPr lang="zh-CN" altLang="en-US" sz="1200">
                <a:sym typeface="+mn-ea"/>
              </a:rPr>
              <a:t>时为</a:t>
            </a:r>
            <a:r>
              <a:rPr lang="en-US" altLang="zh-CN" sz="1200">
                <a:sym typeface="+mn-ea"/>
              </a:rPr>
              <a:t>14.65%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" y="1308100"/>
            <a:ext cx="10325100" cy="4241165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>
          <a:xfrm>
            <a:off x="0" y="0"/>
            <a:ext cx="2437765" cy="310515"/>
          </a:xfrm>
          <a:prstGeom prst="roundRect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接入测试数据</a:t>
            </a:r>
            <a:r>
              <a:rPr lang="en-US" altLang="zh-CN" sz="1400"/>
              <a:t>2025</a:t>
            </a:r>
            <a:endParaRPr lang="en-US" altLang="zh-CN" sz="1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1*434"/>
  <p:tag name="TABLE_ENDDRAG_RECT" val="20*8*921*43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6401</Words>
  <Application>WPS 演示</Application>
  <PresentationFormat>宽屏</PresentationFormat>
  <Paragraphs>466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13650</dc:creator>
  <cp:lastModifiedBy>健明</cp:lastModifiedBy>
  <cp:revision>7</cp:revision>
  <dcterms:created xsi:type="dcterms:W3CDTF">2023-08-09T12:44:00Z</dcterms:created>
  <dcterms:modified xsi:type="dcterms:W3CDTF">2026-06-22T02:57:39Z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8F7F72ADE9B7414AB42B1AF3FBA1A224_12</vt:lpwstr>
  </property>
</Properties>
</file>